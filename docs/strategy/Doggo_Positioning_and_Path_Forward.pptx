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a working session, not a finished plan. I pulled the research together so we can react to it together. Goal today: agree on the positioning, look at the proof, and line up what we decide after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We're not 'a community app that also helps shelters.' It's one mission on both sides of the shelter wall. The science on the next slide is what makes these two halves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collaborative. I'm not asking her to commit to anything now — just to agree these are the decisions waiting for us after validation, so we move toward them deliberately instead of drifting.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The ask is small: her reaction to one question. I want a shared next step, not a yes/no.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402F"/>
        </a:solidFill>
      </p:bgPr>
    </p:bg>
    <p:spTree>
      <p:nvGrpSpPr>
        <p:cNvPr id="1" name=""/>
        <p:cNvGrpSpPr/>
        <p:nvPr/>
      </p:nvGrpSpPr>
      <p:grpSpPr>
        <a:xfrm>
          <a:off x="0" y="0"/>
          <a:ext cx="0" cy="0"/>
          <a:chOff x="0" y="0"/>
          <a:chExt cx="0" cy="0"/>
        </a:xfrm>
      </p:grpSpPr>
      <p:sp>
        <p:nvSpPr>
          <p:cNvPr id="2" name="Shape 0"/>
          <p:cNvSpPr/>
          <p:nvPr/>
        </p:nvSpPr>
        <p:spPr>
          <a:xfrm>
            <a:off x="9784080" y="-1280160"/>
            <a:ext cx="3840480" cy="3840480"/>
          </a:xfrm>
          <a:prstGeom prst="ellipse">
            <a:avLst/>
          </a:prstGeom>
          <a:solidFill>
            <a:srgbClr val="5E8C63">
              <a:alpha val="22000"/>
            </a:srgbClr>
          </a:solidFill>
          <a:ln/>
        </p:spPr>
      </p:sp>
      <p:sp>
        <p:nvSpPr>
          <p:cNvPr id="3" name="Shape 1"/>
          <p:cNvSpPr/>
          <p:nvPr/>
        </p:nvSpPr>
        <p:spPr>
          <a:xfrm>
            <a:off x="10881360" y="3291840"/>
            <a:ext cx="2377440" cy="2377440"/>
          </a:xfrm>
          <a:prstGeom prst="ellipse">
            <a:avLst/>
          </a:prstGeom>
          <a:solidFill>
            <a:srgbClr val="D8943A">
              <a:alpha val="20000"/>
            </a:srgbClr>
          </a:solidFill>
          <a:ln/>
        </p:spPr>
      </p:sp>
      <p:sp>
        <p:nvSpPr>
          <p:cNvPr id="4" name="Shape 2"/>
          <p:cNvSpPr/>
          <p:nvPr/>
        </p:nvSpPr>
        <p:spPr>
          <a:xfrm>
            <a:off x="640080" y="5212080"/>
            <a:ext cx="457200" cy="457200"/>
          </a:xfrm>
          <a:prstGeom prst="ellipse">
            <a:avLst/>
          </a:prstGeom>
          <a:solidFill>
            <a:srgbClr val="D8943A"/>
          </a:solidFill>
          <a:ln/>
        </p:spPr>
      </p:sp>
      <p:sp>
        <p:nvSpPr>
          <p:cNvPr id="5" name="Text 3"/>
          <p:cNvSpPr/>
          <p:nvPr/>
        </p:nvSpPr>
        <p:spPr>
          <a:xfrm>
            <a:off x="640080" y="1371600"/>
            <a:ext cx="10058400" cy="365760"/>
          </a:xfrm>
          <a:prstGeom prst="rect">
            <a:avLst/>
          </a:prstGeom>
          <a:noFill/>
          <a:ln/>
        </p:spPr>
        <p:txBody>
          <a:bodyPr wrap="square" lIns="0" tIns="0" rIns="0" bIns="0" rtlCol="0" anchor="ctr"/>
          <a:lstStyle/>
          <a:p>
            <a:pPr indent="0" marL="0">
              <a:buNone/>
            </a:pPr>
            <a:r>
              <a:rPr lang="en-US" sz="1300" b="1" spc="300" kern="0" dirty="0">
                <a:solidFill>
                  <a:srgbClr val="9CBF9E"/>
                </a:solidFill>
                <a:latin typeface="Calibri" pitchFamily="34" charset="0"/>
                <a:ea typeface="Calibri" pitchFamily="34" charset="-122"/>
                <a:cs typeface="Calibri" pitchFamily="34" charset="-120"/>
              </a:rPr>
              <a:t>DOGGO  ·  WORKING SESSION  ·  JUNE 2026</a:t>
            </a:r>
            <a:endParaRPr lang="en-US" sz="1300" dirty="0"/>
          </a:p>
        </p:txBody>
      </p:sp>
      <p:sp>
        <p:nvSpPr>
          <p:cNvPr id="6" name="Text 4"/>
          <p:cNvSpPr/>
          <p:nvPr/>
        </p:nvSpPr>
        <p:spPr>
          <a:xfrm>
            <a:off x="640080" y="1965960"/>
            <a:ext cx="10515600" cy="1828800"/>
          </a:xfrm>
          <a:prstGeom prst="rect">
            <a:avLst/>
          </a:prstGeom>
          <a:noFill/>
          <a:ln/>
        </p:spPr>
        <p:txBody>
          <a:bodyPr wrap="square" lIns="0" tIns="0" rIns="0" bIns="0" rtlCol="0" anchor="ctr"/>
          <a:lstStyle/>
          <a:p>
            <a:pPr indent="0" marL="0">
              <a:lnSpc>
                <a:spcPct val="100000"/>
              </a:lnSpc>
              <a:buNone/>
            </a:pPr>
            <a:r>
              <a:rPr lang="en-US" sz="5000" b="1" dirty="0">
                <a:solidFill>
                  <a:srgbClr val="FFFFFF"/>
                </a:solidFill>
                <a:latin typeface="Georgia" pitchFamily="34" charset="0"/>
                <a:ea typeface="Georgia" pitchFamily="34" charset="-122"/>
                <a:cs typeface="Georgia" pitchFamily="34" charset="-120"/>
              </a:rPr>
              <a:t>Positioning, proof, and</a:t>
            </a:r>
            <a:endParaRPr lang="en-US" sz="5000" dirty="0"/>
          </a:p>
          <a:p>
            <a:pPr indent="0" marL="0">
              <a:lnSpc>
                <a:spcPct val="100000"/>
              </a:lnSpc>
              <a:buNone/>
            </a:pPr>
            <a:r>
              <a:rPr lang="en-US" sz="5000" b="1" dirty="0">
                <a:solidFill>
                  <a:srgbClr val="FFFFFF"/>
                </a:solidFill>
                <a:latin typeface="Georgia" pitchFamily="34" charset="0"/>
                <a:ea typeface="Georgia" pitchFamily="34" charset="-122"/>
                <a:cs typeface="Georgia" pitchFamily="34" charset="-120"/>
              </a:rPr>
              <a:t>the path forward</a:t>
            </a:r>
            <a:endParaRPr lang="en-US" sz="5000" dirty="0"/>
          </a:p>
        </p:txBody>
      </p:sp>
      <p:sp>
        <p:nvSpPr>
          <p:cNvPr id="7" name="Text 5"/>
          <p:cNvSpPr/>
          <p:nvPr/>
        </p:nvSpPr>
        <p:spPr>
          <a:xfrm>
            <a:off x="640080" y="3977640"/>
            <a:ext cx="9601200" cy="731520"/>
          </a:xfrm>
          <a:prstGeom prst="rect">
            <a:avLst/>
          </a:prstGeom>
          <a:noFill/>
          <a:ln/>
        </p:spPr>
        <p:txBody>
          <a:bodyPr wrap="square" lIns="0" tIns="0" rIns="0" bIns="0" rtlCol="0" anchor="ctr"/>
          <a:lstStyle/>
          <a:p>
            <a:pPr indent="0" marL="0">
              <a:buNone/>
            </a:pPr>
            <a:r>
              <a:rPr lang="en-US" sz="1700" dirty="0">
                <a:solidFill>
                  <a:srgbClr val="9CBF9E"/>
                </a:solidFill>
                <a:latin typeface="Calibri" pitchFamily="34" charset="0"/>
                <a:ea typeface="Calibri" pitchFamily="34" charset="-122"/>
                <a:cs typeface="Calibri" pitchFamily="34" charset="-120"/>
              </a:rPr>
              <a:t>Where we are, what the research says about our angle, and the decisions we line up next.</a:t>
            </a:r>
            <a:endParaRPr lang="en-US" sz="1700" dirty="0"/>
          </a:p>
        </p:txBody>
      </p:sp>
      <p:sp>
        <p:nvSpPr>
          <p:cNvPr id="8" name="Text 6"/>
          <p:cNvSpPr/>
          <p:nvPr/>
        </p:nvSpPr>
        <p:spPr>
          <a:xfrm>
            <a:off x="640080" y="5943600"/>
            <a:ext cx="100584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Prepared by Shawn</a:t>
            </a:r>
            <a:pPr indent="0" marL="0">
              <a:buNone/>
            </a:pPr>
            <a:r>
              <a:rPr lang="en-US" sz="1300" dirty="0">
                <a:solidFill>
                  <a:srgbClr val="9CBF9E"/>
                </a:solidFill>
                <a:latin typeface="Calibri" pitchFamily="34" charset="0"/>
                <a:ea typeface="Calibri" pitchFamily="34" charset="-122"/>
                <a:cs typeface="Calibri" pitchFamily="34" charset="-120"/>
              </a:rPr>
              <a:t>   ·   a starting point for us to react to, together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5E8C63"/>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5E8C63"/>
                </a:solidFill>
                <a:latin typeface="Calibri" pitchFamily="34" charset="0"/>
                <a:ea typeface="Calibri" pitchFamily="34" charset="-122"/>
                <a:cs typeface="Calibri" pitchFamily="34" charset="-120"/>
              </a:rPr>
              <a:t>WHERE WE ARE</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We have a world. Now we make it land.</a:t>
            </a:r>
            <a:endParaRPr lang="en-US" sz="3300" dirty="0"/>
          </a:p>
        </p:txBody>
      </p:sp>
      <p:sp>
        <p:nvSpPr>
          <p:cNvPr id="5" name="Shape 3"/>
          <p:cNvSpPr/>
          <p:nvPr/>
        </p:nvSpPr>
        <p:spPr>
          <a:xfrm>
            <a:off x="640080" y="2194560"/>
            <a:ext cx="3361944" cy="269748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Shape 4"/>
          <p:cNvSpPr/>
          <p:nvPr/>
        </p:nvSpPr>
        <p:spPr>
          <a:xfrm>
            <a:off x="640080" y="2194560"/>
            <a:ext cx="3361944" cy="128016"/>
          </a:xfrm>
          <a:prstGeom prst="rect">
            <a:avLst/>
          </a:prstGeom>
          <a:solidFill>
            <a:srgbClr val="5E8C63"/>
          </a:solidFill>
          <a:ln/>
        </p:spPr>
      </p:sp>
      <p:sp>
        <p:nvSpPr>
          <p:cNvPr id="7" name="Text 5"/>
          <p:cNvSpPr/>
          <p:nvPr/>
        </p:nvSpPr>
        <p:spPr>
          <a:xfrm>
            <a:off x="932688" y="2542032"/>
            <a:ext cx="2813304" cy="548640"/>
          </a:xfrm>
          <a:prstGeom prst="rect">
            <a:avLst/>
          </a:prstGeom>
          <a:noFill/>
          <a:ln/>
        </p:spPr>
        <p:txBody>
          <a:bodyPr wrap="square" lIns="0" tIns="0" rIns="0" bIns="0" rtlCol="0" anchor="t"/>
          <a:lstStyle/>
          <a:p>
            <a:pPr indent="0" marL="0">
              <a:buNone/>
            </a:pPr>
            <a:r>
              <a:rPr lang="en-US" sz="1900" b="1" dirty="0">
                <a:solidFill>
                  <a:srgbClr val="1E3A2B"/>
                </a:solidFill>
                <a:latin typeface="Georgia" pitchFamily="34" charset="0"/>
                <a:ea typeface="Georgia" pitchFamily="34" charset="-122"/>
                <a:cs typeface="Georgia" pitchFamily="34" charset="-120"/>
              </a:rPr>
              <a:t>Full skeleton built</a:t>
            </a:r>
            <a:endParaRPr lang="en-US" sz="1900" dirty="0"/>
          </a:p>
        </p:txBody>
      </p:sp>
      <p:sp>
        <p:nvSpPr>
          <p:cNvPr id="8" name="Text 6"/>
          <p:cNvSpPr/>
          <p:nvPr/>
        </p:nvSpPr>
        <p:spPr>
          <a:xfrm>
            <a:off x="932688" y="3200400"/>
            <a:ext cx="2813304" cy="155448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Every page renders with real content and working interactions across all three personas.</a:t>
            </a:r>
            <a:endParaRPr lang="en-US" sz="1450" dirty="0"/>
          </a:p>
        </p:txBody>
      </p:sp>
      <p:sp>
        <p:nvSpPr>
          <p:cNvPr id="9" name="Shape 7"/>
          <p:cNvSpPr/>
          <p:nvPr/>
        </p:nvSpPr>
        <p:spPr>
          <a:xfrm>
            <a:off x="4413504" y="2194560"/>
            <a:ext cx="3361944" cy="269748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0" name="Shape 8"/>
          <p:cNvSpPr/>
          <p:nvPr/>
        </p:nvSpPr>
        <p:spPr>
          <a:xfrm>
            <a:off x="4413504" y="2194560"/>
            <a:ext cx="3361944" cy="128016"/>
          </a:xfrm>
          <a:prstGeom prst="rect">
            <a:avLst/>
          </a:prstGeom>
          <a:solidFill>
            <a:srgbClr val="2C7DA0"/>
          </a:solidFill>
          <a:ln/>
        </p:spPr>
      </p:sp>
      <p:sp>
        <p:nvSpPr>
          <p:cNvPr id="11" name="Text 9"/>
          <p:cNvSpPr/>
          <p:nvPr/>
        </p:nvSpPr>
        <p:spPr>
          <a:xfrm>
            <a:off x="4706112" y="2542032"/>
            <a:ext cx="2813304" cy="548640"/>
          </a:xfrm>
          <a:prstGeom prst="rect">
            <a:avLst/>
          </a:prstGeom>
          <a:noFill/>
          <a:ln/>
        </p:spPr>
        <p:txBody>
          <a:bodyPr wrap="square" lIns="0" tIns="0" rIns="0" bIns="0" rtlCol="0" anchor="t"/>
          <a:lstStyle/>
          <a:p>
            <a:pPr indent="0" marL="0">
              <a:buNone/>
            </a:pPr>
            <a:r>
              <a:rPr lang="en-US" sz="1900" b="1" dirty="0">
                <a:solidFill>
                  <a:srgbClr val="1E3A2B"/>
                </a:solidFill>
                <a:latin typeface="Georgia" pitchFamily="34" charset="0"/>
                <a:ea typeface="Georgia" pitchFamily="34" charset="-122"/>
                <a:cs typeface="Georgia" pitchFamily="34" charset="-120"/>
              </a:rPr>
              <a:t>First interviews: positive</a:t>
            </a:r>
            <a:endParaRPr lang="en-US" sz="1900" dirty="0"/>
          </a:p>
        </p:txBody>
      </p:sp>
      <p:sp>
        <p:nvSpPr>
          <p:cNvPr id="12" name="Text 10"/>
          <p:cNvSpPr/>
          <p:nvPr/>
        </p:nvSpPr>
        <p:spPr>
          <a:xfrm>
            <a:off x="4706112" y="3200400"/>
            <a:ext cx="2813304" cy="155448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The new-owner and trainer arcs tested well. The core funnel — community → trust → care — reads.</a:t>
            </a:r>
            <a:endParaRPr lang="en-US" sz="1450" dirty="0"/>
          </a:p>
        </p:txBody>
      </p:sp>
      <p:sp>
        <p:nvSpPr>
          <p:cNvPr id="13" name="Shape 11"/>
          <p:cNvSpPr/>
          <p:nvPr/>
        </p:nvSpPr>
        <p:spPr>
          <a:xfrm>
            <a:off x="8186928" y="2194560"/>
            <a:ext cx="3361944" cy="269748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4" name="Shape 12"/>
          <p:cNvSpPr/>
          <p:nvPr/>
        </p:nvSpPr>
        <p:spPr>
          <a:xfrm>
            <a:off x="8186928" y="2194560"/>
            <a:ext cx="3361944" cy="128016"/>
          </a:xfrm>
          <a:prstGeom prst="rect">
            <a:avLst/>
          </a:prstGeom>
          <a:solidFill>
            <a:srgbClr val="D8943A"/>
          </a:solidFill>
          <a:ln/>
        </p:spPr>
      </p:sp>
      <p:sp>
        <p:nvSpPr>
          <p:cNvPr id="15" name="Text 13"/>
          <p:cNvSpPr/>
          <p:nvPr/>
        </p:nvSpPr>
        <p:spPr>
          <a:xfrm>
            <a:off x="8479536" y="2542032"/>
            <a:ext cx="2813304" cy="548640"/>
          </a:xfrm>
          <a:prstGeom prst="rect">
            <a:avLst/>
          </a:prstGeom>
          <a:noFill/>
          <a:ln/>
        </p:spPr>
        <p:txBody>
          <a:bodyPr wrap="square" lIns="0" tIns="0" rIns="0" bIns="0" rtlCol="0" anchor="t"/>
          <a:lstStyle/>
          <a:p>
            <a:pPr indent="0" marL="0">
              <a:buNone/>
            </a:pPr>
            <a:r>
              <a:rPr lang="en-US" sz="1900" b="1" dirty="0">
                <a:solidFill>
                  <a:srgbClr val="1E3A2B"/>
                </a:solidFill>
                <a:latin typeface="Georgia" pitchFamily="34" charset="0"/>
                <a:ea typeface="Georgia" pitchFamily="34" charset="-122"/>
                <a:cs typeface="Georgia" pitchFamily="34" charset="-120"/>
              </a:rPr>
              <a:t>Three paths ready to finish</a:t>
            </a:r>
            <a:endParaRPr lang="en-US" sz="1900" dirty="0"/>
          </a:p>
        </p:txBody>
      </p:sp>
      <p:sp>
        <p:nvSpPr>
          <p:cNvPr id="16" name="Text 14"/>
          <p:cNvSpPr/>
          <p:nvPr/>
        </p:nvSpPr>
        <p:spPr>
          <a:xfrm>
            <a:off x="8479536" y="3200400"/>
            <a:ext cx="2813304" cy="155448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The arcs already exist in skeleton. We're packaging and sharpening them for feedback, not building from zero.</a:t>
            </a:r>
            <a:endParaRPr lang="en-US" sz="1450" dirty="0"/>
          </a:p>
        </p:txBody>
      </p:sp>
      <p:sp>
        <p:nvSpPr>
          <p:cNvPr id="17" name="Text 15"/>
          <p:cNvSpPr/>
          <p:nvPr/>
        </p:nvSpPr>
        <p:spPr>
          <a:xfrm>
            <a:off x="640080" y="5212080"/>
            <a:ext cx="10908792" cy="457200"/>
          </a:xfrm>
          <a:prstGeom prst="rect">
            <a:avLst/>
          </a:prstGeom>
          <a:noFill/>
          <a:ln/>
        </p:spPr>
        <p:txBody>
          <a:bodyPr wrap="square" lIns="0" tIns="0" rIns="0" bIns="0" rtlCol="0" anchor="ctr"/>
          <a:lstStyle/>
          <a:p>
            <a:pPr indent="0" marL="0">
              <a:buNone/>
            </a:pPr>
            <a:r>
              <a:rPr lang="en-US" sz="1400" i="1" dirty="0">
                <a:solidFill>
                  <a:srgbClr val="1E3A2B"/>
                </a:solidFill>
                <a:latin typeface="Calibri" pitchFamily="34" charset="0"/>
                <a:ea typeface="Calibri" pitchFamily="34" charset="-122"/>
                <a:cs typeface="Calibri" pitchFamily="34" charset="-120"/>
              </a:rPr>
              <a:t>The demo's job is to earn feedback. So everything below is geared to making each path say something testable.</a:t>
            </a:r>
            <a:endParaRPr lang="en-US" sz="1400" dirty="0"/>
          </a:p>
        </p:txBody>
      </p:sp>
      <p:sp>
        <p:nvSpPr>
          <p:cNvPr id="18" name="Text 16"/>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402F"/>
        </a:solidFill>
      </p:bgPr>
    </p:bg>
    <p:spTree>
      <p:nvGrpSpPr>
        <p:cNvPr id="1" name=""/>
        <p:cNvGrpSpPr/>
        <p:nvPr/>
      </p:nvGrpSpPr>
      <p:grpSpPr>
        <a:xfrm>
          <a:off x="0" y="0"/>
          <a:ext cx="0" cy="0"/>
          <a:chOff x="0" y="0"/>
          <a:chExt cx="0" cy="0"/>
        </a:xfrm>
      </p:grpSpPr>
      <p:sp>
        <p:nvSpPr>
          <p:cNvPr id="2" name="Shape 0"/>
          <p:cNvSpPr/>
          <p:nvPr/>
        </p:nvSpPr>
        <p:spPr>
          <a:xfrm>
            <a:off x="-1188720" y="4389120"/>
            <a:ext cx="4114800" cy="4114800"/>
          </a:xfrm>
          <a:prstGeom prst="ellipse">
            <a:avLst/>
          </a:prstGeom>
          <a:solidFill>
            <a:srgbClr val="5E8C63">
              <a:alpha val="18000"/>
            </a:srgbClr>
          </a:solidFill>
          <a:ln/>
        </p:spPr>
      </p:sp>
      <p:sp>
        <p:nvSpPr>
          <p:cNvPr id="3" name="Text 1"/>
          <p:cNvSpPr/>
          <p:nvPr/>
        </p:nvSpPr>
        <p:spPr>
          <a:xfrm>
            <a:off x="640080" y="1005840"/>
            <a:ext cx="10058400" cy="365760"/>
          </a:xfrm>
          <a:prstGeom prst="rect">
            <a:avLst/>
          </a:prstGeom>
          <a:noFill/>
          <a:ln/>
        </p:spPr>
        <p:txBody>
          <a:bodyPr wrap="square" lIns="0" tIns="0" rIns="0" bIns="0" rtlCol="0" anchor="ctr"/>
          <a:lstStyle/>
          <a:p>
            <a:pPr indent="0" marL="0">
              <a:buNone/>
            </a:pPr>
            <a:r>
              <a:rPr lang="en-US" sz="1300" b="1" spc="300" kern="0" dirty="0">
                <a:solidFill>
                  <a:srgbClr val="D8943A"/>
                </a:solidFill>
                <a:latin typeface="Calibri" pitchFamily="34" charset="0"/>
                <a:ea typeface="Calibri" pitchFamily="34" charset="-122"/>
                <a:cs typeface="Calibri" pitchFamily="34" charset="-120"/>
              </a:rPr>
              <a:t>THE THESIS</a:t>
            </a:r>
            <a:endParaRPr lang="en-US" sz="1300" dirty="0"/>
          </a:p>
        </p:txBody>
      </p:sp>
      <p:sp>
        <p:nvSpPr>
          <p:cNvPr id="4" name="Text 2"/>
          <p:cNvSpPr/>
          <p:nvPr/>
        </p:nvSpPr>
        <p:spPr>
          <a:xfrm>
            <a:off x="640080" y="1554480"/>
            <a:ext cx="1097280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Better social lives for dogs —</a:t>
            </a:r>
            <a:endParaRPr lang="en-US" sz="4000" dirty="0"/>
          </a:p>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on both sides of the shelter wall.</a:t>
            </a:r>
            <a:endParaRPr lang="en-US" sz="4000" dirty="0"/>
          </a:p>
        </p:txBody>
      </p:sp>
      <p:sp>
        <p:nvSpPr>
          <p:cNvPr id="5" name="Shape 3"/>
          <p:cNvSpPr/>
          <p:nvPr/>
        </p:nvSpPr>
        <p:spPr>
          <a:xfrm>
            <a:off x="640080" y="3657600"/>
            <a:ext cx="5074920" cy="2194560"/>
          </a:xfrm>
          <a:prstGeom prst="rect">
            <a:avLst/>
          </a:prstGeom>
          <a:solidFill>
            <a:srgbClr val="1A3325"/>
          </a:solidFill>
          <a:ln w="12700">
            <a:solidFill>
              <a:srgbClr val="5E8C63"/>
            </a:solidFill>
            <a:prstDash val="solid"/>
          </a:ln>
        </p:spPr>
      </p:sp>
      <p:sp>
        <p:nvSpPr>
          <p:cNvPr id="6" name="Text 4"/>
          <p:cNvSpPr/>
          <p:nvPr/>
        </p:nvSpPr>
        <p:spPr>
          <a:xfrm>
            <a:off x="960120" y="3931920"/>
            <a:ext cx="4434840" cy="1645920"/>
          </a:xfrm>
          <a:prstGeom prst="rect">
            <a:avLst/>
          </a:prstGeom>
          <a:noFill/>
          <a:ln/>
        </p:spPr>
        <p:txBody>
          <a:bodyPr wrap="square" lIns="0" tIns="0" rIns="0" bIns="0" rtlCol="0" anchor="t"/>
          <a:lstStyle/>
          <a:p>
            <a:pPr indent="0" marL="0">
              <a:lnSpc>
                <a:spcPct val="110000"/>
              </a:lnSpc>
              <a:buNone/>
            </a:pPr>
            <a:r>
              <a:rPr lang="en-US" sz="1600" b="1" dirty="0">
                <a:solidFill>
                  <a:srgbClr val="9CBF9E"/>
                </a:solidFill>
                <a:latin typeface="Calibri" pitchFamily="34" charset="0"/>
                <a:ea typeface="Calibri" pitchFamily="34" charset="-122"/>
                <a:cs typeface="Calibri" pitchFamily="34" charset="-120"/>
              </a:rPr>
              <a:t>Owned dogs  ·  prevention
</a:t>
            </a:r>
            <a:endParaRPr lang="en-US" sz="1600" dirty="0"/>
          </a:p>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Social early and often → fewer behaviour problems → they stay in their homes.</a:t>
            </a:r>
            <a:endParaRPr lang="en-US" sz="1600" dirty="0"/>
          </a:p>
        </p:txBody>
      </p:sp>
      <p:sp>
        <p:nvSpPr>
          <p:cNvPr id="7" name="Shape 5"/>
          <p:cNvSpPr/>
          <p:nvPr/>
        </p:nvSpPr>
        <p:spPr>
          <a:xfrm>
            <a:off x="6217920" y="3657600"/>
            <a:ext cx="5074920" cy="2194560"/>
          </a:xfrm>
          <a:prstGeom prst="rect">
            <a:avLst/>
          </a:prstGeom>
          <a:solidFill>
            <a:srgbClr val="1A3325"/>
          </a:solidFill>
          <a:ln w="12700">
            <a:solidFill>
              <a:srgbClr val="D8943A"/>
            </a:solidFill>
            <a:prstDash val="solid"/>
          </a:ln>
        </p:spPr>
      </p:sp>
      <p:sp>
        <p:nvSpPr>
          <p:cNvPr id="8" name="Text 6"/>
          <p:cNvSpPr/>
          <p:nvPr/>
        </p:nvSpPr>
        <p:spPr>
          <a:xfrm>
            <a:off x="6537960" y="3931920"/>
            <a:ext cx="4434840" cy="1645920"/>
          </a:xfrm>
          <a:prstGeom prst="rect">
            <a:avLst/>
          </a:prstGeom>
          <a:noFill/>
          <a:ln/>
        </p:spPr>
        <p:txBody>
          <a:bodyPr wrap="square" lIns="0" tIns="0" rIns="0" bIns="0" rtlCol="0" anchor="t"/>
          <a:lstStyle/>
          <a:p>
            <a:pPr indent="0" marL="0">
              <a:lnSpc>
                <a:spcPct val="110000"/>
              </a:lnSpc>
              <a:buNone/>
            </a:pPr>
            <a:r>
              <a:rPr lang="en-US" sz="1600" b="1" dirty="0">
                <a:solidFill>
                  <a:srgbClr val="D8943A"/>
                </a:solidFill>
                <a:latin typeface="Calibri" pitchFamily="34" charset="0"/>
                <a:ea typeface="Calibri" pitchFamily="34" charset="-122"/>
                <a:cs typeface="Calibri" pitchFamily="34" charset="-120"/>
              </a:rPr>
              <a:t>Shelter dogs  ·  cure
</a:t>
            </a:r>
            <a:endParaRPr lang="en-US" sz="1600" dirty="0"/>
          </a:p>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Social contact, outings and advocacy → less stress → far more likely to be adopted.</a:t>
            </a:r>
            <a:endParaRPr lang="en-US" sz="1600" dirty="0"/>
          </a:p>
        </p:txBody>
      </p:sp>
      <p:sp>
        <p:nvSpPr>
          <p:cNvPr id="9" name="Text 7"/>
          <p:cNvSpPr/>
          <p:nvPr/>
        </p:nvSpPr>
        <p:spPr>
          <a:xfrm>
            <a:off x="640080" y="6126480"/>
            <a:ext cx="10972800" cy="365760"/>
          </a:xfrm>
          <a:prstGeom prst="rect">
            <a:avLst/>
          </a:prstGeom>
          <a:noFill/>
          <a:ln/>
        </p:spPr>
        <p:txBody>
          <a:bodyPr wrap="square" lIns="0" tIns="0" rIns="0" bIns="0" rtlCol="0" anchor="ctr"/>
          <a:lstStyle/>
          <a:p>
            <a:pPr indent="0" marL="0">
              <a:buNone/>
            </a:pPr>
            <a:r>
              <a:rPr lang="en-US" sz="1300" i="1" dirty="0">
                <a:solidFill>
                  <a:srgbClr val="9CBF9E"/>
                </a:solidFill>
                <a:latin typeface="Calibri" pitchFamily="34" charset="0"/>
                <a:ea typeface="Calibri" pitchFamily="34" charset="-122"/>
                <a:cs typeface="Calibri" pitchFamily="34" charset="-120"/>
              </a:rPr>
              <a:t>One mission, two surfaces — and the give-back funds the cure while the product drives the prevention.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5E8C63"/>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5E8C63"/>
                </a:solidFill>
                <a:latin typeface="Calibri" pitchFamily="34" charset="0"/>
                <a:ea typeface="Calibri" pitchFamily="34" charset="-122"/>
                <a:cs typeface="Calibri" pitchFamily="34" charset="-120"/>
              </a:rPr>
              <a:t>WHY IT MATTERS</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Socialising a dog isn't a nice-to-have. It's protective.</a:t>
            </a:r>
            <a:endParaRPr lang="en-US" sz="3300" dirty="0"/>
          </a:p>
        </p:txBody>
      </p:sp>
      <p:sp>
        <p:nvSpPr>
          <p:cNvPr id="5" name="Shape 3"/>
          <p:cNvSpPr/>
          <p:nvPr/>
        </p:nvSpPr>
        <p:spPr>
          <a:xfrm>
            <a:off x="640080" y="233172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Text 4"/>
          <p:cNvSpPr/>
          <p:nvPr/>
        </p:nvSpPr>
        <p:spPr>
          <a:xfrm>
            <a:off x="914400" y="2468880"/>
            <a:ext cx="2813304" cy="960120"/>
          </a:xfrm>
          <a:prstGeom prst="rect">
            <a:avLst/>
          </a:prstGeom>
          <a:noFill/>
          <a:ln/>
        </p:spPr>
        <p:txBody>
          <a:bodyPr wrap="square" lIns="0" tIns="0" rIns="0" bIns="0" rtlCol="0" anchor="b"/>
          <a:lstStyle/>
          <a:p>
            <a:pPr indent="0" marL="0">
              <a:buNone/>
            </a:pPr>
            <a:r>
              <a:rPr lang="en-US" sz="3800" b="1" dirty="0">
                <a:solidFill>
                  <a:srgbClr val="5E8C63"/>
                </a:solidFill>
                <a:latin typeface="Georgia" pitchFamily="34" charset="0"/>
                <a:ea typeface="Georgia" pitchFamily="34" charset="-122"/>
                <a:cs typeface="Georgia" pitchFamily="34" charset="-120"/>
              </a:rPr>
              <a:t>3–14 wks</a:t>
            </a:r>
            <a:endParaRPr lang="en-US" sz="3800" dirty="0"/>
          </a:p>
        </p:txBody>
      </p:sp>
      <p:sp>
        <p:nvSpPr>
          <p:cNvPr id="7" name="Shape 5"/>
          <p:cNvSpPr/>
          <p:nvPr/>
        </p:nvSpPr>
        <p:spPr>
          <a:xfrm>
            <a:off x="932688" y="3584448"/>
            <a:ext cx="731520" cy="0"/>
          </a:xfrm>
          <a:prstGeom prst="line">
            <a:avLst/>
          </a:prstGeom>
          <a:noFill/>
          <a:ln w="31750">
            <a:solidFill>
              <a:srgbClr val="5E8C63"/>
            </a:solidFill>
            <a:prstDash val="solid"/>
          </a:ln>
        </p:spPr>
      </p:sp>
      <p:sp>
        <p:nvSpPr>
          <p:cNvPr id="8" name="Text 6"/>
          <p:cNvSpPr/>
          <p:nvPr/>
        </p:nvSpPr>
        <p:spPr>
          <a:xfrm>
            <a:off x="914400" y="3730752"/>
            <a:ext cx="2813304" cy="123444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The primary socialisation window. Most of who a dog becomes is set in the first three months.</a:t>
            </a:r>
            <a:endParaRPr lang="en-US" sz="1450" dirty="0"/>
          </a:p>
        </p:txBody>
      </p:sp>
      <p:sp>
        <p:nvSpPr>
          <p:cNvPr id="9" name="Shape 7"/>
          <p:cNvSpPr/>
          <p:nvPr/>
        </p:nvSpPr>
        <p:spPr>
          <a:xfrm>
            <a:off x="4413504" y="233172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0" name="Text 8"/>
          <p:cNvSpPr/>
          <p:nvPr/>
        </p:nvSpPr>
        <p:spPr>
          <a:xfrm>
            <a:off x="4687824" y="2468880"/>
            <a:ext cx="2813304" cy="960120"/>
          </a:xfrm>
          <a:prstGeom prst="rect">
            <a:avLst/>
          </a:prstGeom>
          <a:noFill/>
          <a:ln/>
        </p:spPr>
        <p:txBody>
          <a:bodyPr wrap="square" lIns="0" tIns="0" rIns="0" bIns="0" rtlCol="0" anchor="b"/>
          <a:lstStyle/>
          <a:p>
            <a:pPr indent="0" marL="0">
              <a:buNone/>
            </a:pPr>
            <a:r>
              <a:rPr lang="en-US" sz="3800" b="1" dirty="0">
                <a:solidFill>
                  <a:srgbClr val="D8943A"/>
                </a:solidFill>
                <a:latin typeface="Georgia" pitchFamily="34" charset="0"/>
                <a:ea typeface="Georgia" pitchFamily="34" charset="-122"/>
                <a:cs typeface="Georgia" pitchFamily="34" charset="-120"/>
              </a:rPr>
              <a:t>#1</a:t>
            </a:r>
            <a:endParaRPr lang="en-US" sz="3800" dirty="0"/>
          </a:p>
        </p:txBody>
      </p:sp>
      <p:sp>
        <p:nvSpPr>
          <p:cNvPr id="11" name="Shape 9"/>
          <p:cNvSpPr/>
          <p:nvPr/>
        </p:nvSpPr>
        <p:spPr>
          <a:xfrm>
            <a:off x="4706112" y="3584448"/>
            <a:ext cx="731520" cy="0"/>
          </a:xfrm>
          <a:prstGeom prst="line">
            <a:avLst/>
          </a:prstGeom>
          <a:noFill/>
          <a:ln w="31750">
            <a:solidFill>
              <a:srgbClr val="D8943A"/>
            </a:solidFill>
            <a:prstDash val="solid"/>
          </a:ln>
        </p:spPr>
      </p:sp>
      <p:sp>
        <p:nvSpPr>
          <p:cNvPr id="12" name="Text 10"/>
          <p:cNvSpPr/>
          <p:nvPr/>
        </p:nvSpPr>
        <p:spPr>
          <a:xfrm>
            <a:off x="4687824" y="3730752"/>
            <a:ext cx="2813304" cy="123444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Behaviour problems are the leading cause of dogs being given up to shelters.</a:t>
            </a:r>
            <a:endParaRPr lang="en-US" sz="1450" dirty="0"/>
          </a:p>
        </p:txBody>
      </p:sp>
      <p:sp>
        <p:nvSpPr>
          <p:cNvPr id="13" name="Shape 11"/>
          <p:cNvSpPr/>
          <p:nvPr/>
        </p:nvSpPr>
        <p:spPr>
          <a:xfrm>
            <a:off x="8186928" y="233172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4" name="Text 12"/>
          <p:cNvSpPr/>
          <p:nvPr/>
        </p:nvSpPr>
        <p:spPr>
          <a:xfrm>
            <a:off x="8461248" y="2468880"/>
            <a:ext cx="2813304" cy="960120"/>
          </a:xfrm>
          <a:prstGeom prst="rect">
            <a:avLst/>
          </a:prstGeom>
          <a:noFill/>
          <a:ln/>
        </p:spPr>
        <p:txBody>
          <a:bodyPr wrap="square" lIns="0" tIns="0" rIns="0" bIns="0" rtlCol="0" anchor="b"/>
          <a:lstStyle/>
          <a:p>
            <a:pPr indent="0" marL="0">
              <a:buNone/>
            </a:pPr>
            <a:r>
              <a:rPr lang="en-US" sz="3800" b="1" dirty="0">
                <a:solidFill>
                  <a:srgbClr val="2C7DA0"/>
                </a:solidFill>
                <a:latin typeface="Georgia" pitchFamily="34" charset="0"/>
                <a:ea typeface="Georgia" pitchFamily="34" charset="-122"/>
                <a:cs typeface="Georgia" pitchFamily="34" charset="-120"/>
              </a:rPr>
              <a:t>#1</a:t>
            </a:r>
            <a:endParaRPr lang="en-US" sz="3800" dirty="0"/>
          </a:p>
        </p:txBody>
      </p:sp>
      <p:sp>
        <p:nvSpPr>
          <p:cNvPr id="15" name="Shape 13"/>
          <p:cNvSpPr/>
          <p:nvPr/>
        </p:nvSpPr>
        <p:spPr>
          <a:xfrm>
            <a:off x="8479536" y="3584448"/>
            <a:ext cx="731520" cy="0"/>
          </a:xfrm>
          <a:prstGeom prst="line">
            <a:avLst/>
          </a:prstGeom>
          <a:noFill/>
          <a:ln w="31750">
            <a:solidFill>
              <a:srgbClr val="2C7DA0"/>
            </a:solidFill>
            <a:prstDash val="solid"/>
          </a:ln>
        </p:spPr>
      </p:sp>
      <p:sp>
        <p:nvSpPr>
          <p:cNvPr id="16" name="Text 14"/>
          <p:cNvSpPr/>
          <p:nvPr/>
        </p:nvSpPr>
        <p:spPr>
          <a:xfrm>
            <a:off x="8461248" y="3730752"/>
            <a:ext cx="2813304" cy="1234440"/>
          </a:xfrm>
          <a:prstGeom prst="rect">
            <a:avLst/>
          </a:prstGeom>
          <a:noFill/>
          <a:ln/>
        </p:spPr>
        <p:txBody>
          <a:bodyPr wrap="square" lIns="0" tIns="0" rIns="0" bIns="0" rtlCol="0" anchor="t"/>
          <a:lstStyle/>
          <a:p>
            <a:pPr indent="0" marL="0">
              <a:buNone/>
            </a:pPr>
            <a:r>
              <a:rPr lang="en-US" sz="1450" dirty="0">
                <a:solidFill>
                  <a:srgbClr val="61715F"/>
                </a:solidFill>
                <a:latin typeface="Calibri" pitchFamily="34" charset="0"/>
                <a:ea typeface="Calibri" pitchFamily="34" charset="-122"/>
                <a:cs typeface="Calibri" pitchFamily="34" charset="-120"/>
              </a:rPr>
              <a:t>Behavioural issues — not disease — are the leading cause of death for dogs under three.</a:t>
            </a:r>
            <a:endParaRPr lang="en-US" sz="1450" dirty="0"/>
          </a:p>
        </p:txBody>
      </p:sp>
      <p:sp>
        <p:nvSpPr>
          <p:cNvPr id="17" name="Text 15"/>
          <p:cNvSpPr/>
          <p:nvPr/>
        </p:nvSpPr>
        <p:spPr>
          <a:xfrm>
            <a:off x="640080" y="5257800"/>
            <a:ext cx="10908792" cy="640080"/>
          </a:xfrm>
          <a:prstGeom prst="rect">
            <a:avLst/>
          </a:prstGeom>
          <a:noFill/>
          <a:ln/>
        </p:spPr>
        <p:txBody>
          <a:bodyPr wrap="square" lIns="0" tIns="0" rIns="0" bIns="0" rtlCol="0" anchor="ctr"/>
          <a:lstStyle/>
          <a:p>
            <a:pPr indent="0" marL="0">
              <a:buNone/>
            </a:pPr>
            <a:r>
              <a:rPr lang="en-US" sz="1450" b="1" i="1" dirty="0">
                <a:solidFill>
                  <a:srgbClr val="1E3A2B"/>
                </a:solidFill>
                <a:latin typeface="Calibri" pitchFamily="34" charset="0"/>
                <a:ea typeface="Calibri" pitchFamily="34" charset="-122"/>
                <a:cs typeface="Calibri" pitchFamily="34" charset="-120"/>
              </a:rPr>
              <a:t>The takeaway:  </a:t>
            </a:r>
            <a:pPr indent="0" marL="0">
              <a:buNone/>
            </a:pPr>
            <a:r>
              <a:rPr lang="en-US" sz="1450" i="1" dirty="0">
                <a:solidFill>
                  <a:srgbClr val="1E3A2B"/>
                </a:solidFill>
                <a:latin typeface="Calibri" pitchFamily="34" charset="0"/>
                <a:ea typeface="Calibri" pitchFamily="34" charset="-122"/>
                <a:cs typeface="Calibri" pitchFamily="34" charset="-120"/>
              </a:rPr>
              <a:t>under-socialised dogs develop the exact problems that send dogs to shelters. “Social early and often” is the most useful thing we can tell a new owner.</a:t>
            </a:r>
            <a:endParaRPr lang="en-US" sz="1450" dirty="0"/>
          </a:p>
        </p:txBody>
      </p:sp>
      <p:sp>
        <p:nvSpPr>
          <p:cNvPr id="18" name="Text 16"/>
          <p:cNvSpPr/>
          <p:nvPr/>
        </p:nvSpPr>
        <p:spPr>
          <a:xfrm>
            <a:off x="640080" y="6400800"/>
            <a:ext cx="8686800" cy="274320"/>
          </a:xfrm>
          <a:prstGeom prst="rect">
            <a:avLst/>
          </a:prstGeom>
          <a:noFill/>
          <a:ln/>
        </p:spPr>
        <p:txBody>
          <a:bodyPr wrap="square" lIns="0" tIns="0" rIns="0" bIns="0" rtlCol="0" anchor="ctr"/>
          <a:lstStyle/>
          <a:p>
            <a:pPr algn="l" indent="0" marL="0">
              <a:buNone/>
            </a:pPr>
            <a:r>
              <a:rPr lang="en-US" sz="900" i="1" dirty="0">
                <a:solidFill>
                  <a:srgbClr val="61715F"/>
                </a:solidFill>
                <a:latin typeface="Calibri" pitchFamily="34" charset="0"/>
                <a:ea typeface="Calibri" pitchFamily="34" charset="-122"/>
                <a:cs typeface="Calibri" pitchFamily="34" charset="-120"/>
              </a:rPr>
              <a:t>Source: AVSAB Position Statement on Puppy Socialization (American Veterinary Society of Animal Behavior).</a:t>
            </a:r>
            <a:endParaRPr lang="en-US" sz="900" dirty="0"/>
          </a:p>
        </p:txBody>
      </p:sp>
      <p:sp>
        <p:nvSpPr>
          <p:cNvPr id="19" name="Text 17"/>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D8943A"/>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D8943A"/>
                </a:solidFill>
                <a:latin typeface="Calibri" pitchFamily="34" charset="0"/>
                <a:ea typeface="Calibri" pitchFamily="34" charset="-122"/>
                <a:cs typeface="Calibri" pitchFamily="34" charset="-120"/>
              </a:rPr>
              <a:t>THE PROOF</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Getting shelter dogs out gets them adopted.</a:t>
            </a:r>
            <a:endParaRPr lang="en-US" sz="3300" dirty="0"/>
          </a:p>
        </p:txBody>
      </p:sp>
      <p:sp>
        <p:nvSpPr>
          <p:cNvPr id="5" name="Shape 3"/>
          <p:cNvSpPr/>
          <p:nvPr/>
        </p:nvSpPr>
        <p:spPr>
          <a:xfrm>
            <a:off x="640080" y="2148840"/>
            <a:ext cx="3246120" cy="278892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Text 4"/>
          <p:cNvSpPr/>
          <p:nvPr/>
        </p:nvSpPr>
        <p:spPr>
          <a:xfrm>
            <a:off x="640080" y="2377440"/>
            <a:ext cx="3246120" cy="1188720"/>
          </a:xfrm>
          <a:prstGeom prst="rect">
            <a:avLst/>
          </a:prstGeom>
          <a:noFill/>
          <a:ln/>
        </p:spPr>
        <p:txBody>
          <a:bodyPr wrap="square" lIns="0" tIns="0" rIns="0" bIns="0" rtlCol="0" anchor="ctr"/>
          <a:lstStyle/>
          <a:p>
            <a:pPr algn="ctr" indent="0" marL="0">
              <a:buNone/>
            </a:pPr>
            <a:r>
              <a:rPr lang="en-US" sz="6000" b="1" dirty="0">
                <a:solidFill>
                  <a:srgbClr val="5E8C63"/>
                </a:solidFill>
                <a:latin typeface="Georgia" pitchFamily="34" charset="0"/>
                <a:ea typeface="Georgia" pitchFamily="34" charset="-122"/>
                <a:cs typeface="Georgia" pitchFamily="34" charset="-120"/>
              </a:rPr>
              <a:t>&gt;4×</a:t>
            </a:r>
            <a:endParaRPr lang="en-US" sz="6000" dirty="0"/>
          </a:p>
        </p:txBody>
      </p:sp>
      <p:sp>
        <p:nvSpPr>
          <p:cNvPr id="7" name="Text 5"/>
          <p:cNvSpPr/>
          <p:nvPr/>
        </p:nvSpPr>
        <p:spPr>
          <a:xfrm>
            <a:off x="914400" y="3611880"/>
            <a:ext cx="2697480" cy="1097280"/>
          </a:xfrm>
          <a:prstGeom prst="rect">
            <a:avLst/>
          </a:prstGeom>
          <a:noFill/>
          <a:ln/>
        </p:spPr>
        <p:txBody>
          <a:bodyPr wrap="square" lIns="0" tIns="0" rIns="0" bIns="0" rtlCol="0" anchor="ctr"/>
          <a:lstStyle/>
          <a:p>
            <a:pPr algn="ctr" indent="0" marL="0">
              <a:buNone/>
            </a:pPr>
            <a:r>
              <a:rPr lang="en-US" sz="1400" dirty="0">
                <a:solidFill>
                  <a:srgbClr val="61715F"/>
                </a:solidFill>
                <a:latin typeface="Calibri" pitchFamily="34" charset="0"/>
                <a:ea typeface="Calibri" pitchFamily="34" charset="-122"/>
                <a:cs typeface="Calibri" pitchFamily="34" charset="-120"/>
              </a:rPr>
              <a:t>more likely to be adopted after a day-trip outing</a:t>
            </a:r>
            <a:endParaRPr lang="en-US" sz="1400" dirty="0"/>
          </a:p>
        </p:txBody>
      </p:sp>
      <p:sp>
        <p:nvSpPr>
          <p:cNvPr id="8" name="Shape 6"/>
          <p:cNvSpPr/>
          <p:nvPr/>
        </p:nvSpPr>
        <p:spPr>
          <a:xfrm>
            <a:off x="4160520" y="2148840"/>
            <a:ext cx="3246120" cy="278892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9" name="Text 7"/>
          <p:cNvSpPr/>
          <p:nvPr/>
        </p:nvSpPr>
        <p:spPr>
          <a:xfrm>
            <a:off x="4160520" y="2377440"/>
            <a:ext cx="3246120" cy="1188720"/>
          </a:xfrm>
          <a:prstGeom prst="rect">
            <a:avLst/>
          </a:prstGeom>
          <a:noFill/>
          <a:ln/>
        </p:spPr>
        <p:txBody>
          <a:bodyPr wrap="square" lIns="0" tIns="0" rIns="0" bIns="0" rtlCol="0" anchor="ctr"/>
          <a:lstStyle/>
          <a:p>
            <a:pPr algn="ctr" indent="0" marL="0">
              <a:buNone/>
            </a:pPr>
            <a:r>
              <a:rPr lang="en-US" sz="6000" b="1" dirty="0">
                <a:solidFill>
                  <a:srgbClr val="D8943A"/>
                </a:solidFill>
                <a:latin typeface="Georgia" pitchFamily="34" charset="0"/>
                <a:ea typeface="Georgia" pitchFamily="34" charset="-122"/>
                <a:cs typeface="Georgia" pitchFamily="34" charset="-120"/>
              </a:rPr>
              <a:t>&gt;14×</a:t>
            </a:r>
            <a:endParaRPr lang="en-US" sz="6000" dirty="0"/>
          </a:p>
        </p:txBody>
      </p:sp>
      <p:sp>
        <p:nvSpPr>
          <p:cNvPr id="10" name="Text 8"/>
          <p:cNvSpPr/>
          <p:nvPr/>
        </p:nvSpPr>
        <p:spPr>
          <a:xfrm>
            <a:off x="4434840" y="3611880"/>
            <a:ext cx="2697480" cy="1097280"/>
          </a:xfrm>
          <a:prstGeom prst="rect">
            <a:avLst/>
          </a:prstGeom>
          <a:noFill/>
          <a:ln/>
        </p:spPr>
        <p:txBody>
          <a:bodyPr wrap="square" lIns="0" tIns="0" rIns="0" bIns="0" rtlCol="0" anchor="ctr"/>
          <a:lstStyle/>
          <a:p>
            <a:pPr algn="ctr" indent="0" marL="0">
              <a:buNone/>
            </a:pPr>
            <a:r>
              <a:rPr lang="en-US" sz="1400" dirty="0">
                <a:solidFill>
                  <a:srgbClr val="61715F"/>
                </a:solidFill>
                <a:latin typeface="Calibri" pitchFamily="34" charset="0"/>
                <a:ea typeface="Calibri" pitchFamily="34" charset="-122"/>
                <a:cs typeface="Calibri" pitchFamily="34" charset="-120"/>
              </a:rPr>
              <a:t>more likely to be adopted after a 1–2 night sleepover</a:t>
            </a:r>
            <a:endParaRPr lang="en-US" sz="1400" dirty="0"/>
          </a:p>
        </p:txBody>
      </p:sp>
      <p:sp>
        <p:nvSpPr>
          <p:cNvPr id="11" name="Shape 9"/>
          <p:cNvSpPr/>
          <p:nvPr/>
        </p:nvSpPr>
        <p:spPr>
          <a:xfrm>
            <a:off x="7680960" y="2148840"/>
            <a:ext cx="3867912" cy="2788920"/>
          </a:xfrm>
          <a:prstGeom prst="rect">
            <a:avLst/>
          </a:prstGeom>
          <a:solidFill>
            <a:srgbClr val="21402F"/>
          </a:solidFill>
          <a:ln/>
        </p:spPr>
      </p:sp>
      <p:sp>
        <p:nvSpPr>
          <p:cNvPr id="12" name="Text 10"/>
          <p:cNvSpPr/>
          <p:nvPr/>
        </p:nvSpPr>
        <p:spPr>
          <a:xfrm>
            <a:off x="7909560" y="2377440"/>
            <a:ext cx="3657600" cy="548640"/>
          </a:xfrm>
          <a:prstGeom prst="rect">
            <a:avLst/>
          </a:prstGeom>
          <a:noFill/>
          <a:ln/>
        </p:spPr>
        <p:txBody>
          <a:bodyPr wrap="square" lIns="0" tIns="0" rIns="0" bIns="0" rtlCol="0" anchor="ctr"/>
          <a:lstStyle/>
          <a:p>
            <a:pPr indent="0" marL="0">
              <a:buNone/>
            </a:pPr>
            <a:r>
              <a:rPr lang="en-US" sz="1800" b="1" dirty="0">
                <a:solidFill>
                  <a:srgbClr val="D8943A"/>
                </a:solidFill>
                <a:latin typeface="Georgia" pitchFamily="34" charset="0"/>
                <a:ea typeface="Georgia" pitchFamily="34" charset="-122"/>
                <a:cs typeface="Georgia" pitchFamily="34" charset="-120"/>
              </a:rPr>
              <a:t>The mechanism is advocacy.</a:t>
            </a:r>
            <a:endParaRPr lang="en-US" sz="1800" dirty="0"/>
          </a:p>
        </p:txBody>
      </p:sp>
      <p:sp>
        <p:nvSpPr>
          <p:cNvPr id="13" name="Text 11"/>
          <p:cNvSpPr/>
          <p:nvPr/>
        </p:nvSpPr>
        <p:spPr>
          <a:xfrm>
            <a:off x="7909560" y="2971800"/>
            <a:ext cx="3337560" cy="1828800"/>
          </a:xfrm>
          <a:prstGeom prst="rect">
            <a:avLst/>
          </a:prstGeom>
          <a:noFill/>
          <a:ln/>
        </p:spPr>
        <p:txBody>
          <a:bodyPr wrap="square" lIns="0" tIns="0" rIns="0" bIns="0" rtlCol="0" anchor="t"/>
          <a:lstStyle/>
          <a:p>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Only ~4% of outing walkers — and ~12% of sleepover hosts — adopt the dog themselves.
</a:t>
            </a:r>
            <a:endParaRPr lang="en-US" sz="1400" dirty="0"/>
          </a:p>
          <a:p>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The lift comes from the dog being seen, photographed and shared to </a:t>
            </a:r>
            <a:pPr indent="0" marL="0">
              <a:lnSpc>
                <a:spcPct val="105000"/>
              </a:lnSpc>
              <a:buNone/>
            </a:pPr>
            <a:r>
              <a:rPr lang="en-US" sz="1400" i="1" dirty="0">
                <a:solidFill>
                  <a:srgbClr val="D8943A"/>
                </a:solidFill>
                <a:latin typeface="Calibri" pitchFamily="34" charset="0"/>
                <a:ea typeface="Calibri" pitchFamily="34" charset="-122"/>
                <a:cs typeface="Calibri" pitchFamily="34" charset="-120"/>
              </a:rPr>
              <a:t>other</a:t>
            </a:r>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 adopters. Every walker becomes an advocate.</a:t>
            </a:r>
            <a:endParaRPr lang="en-US" sz="1400" dirty="0"/>
          </a:p>
        </p:txBody>
      </p:sp>
      <p:sp>
        <p:nvSpPr>
          <p:cNvPr id="14" name="Text 12"/>
          <p:cNvSpPr/>
          <p:nvPr/>
        </p:nvSpPr>
        <p:spPr>
          <a:xfrm>
            <a:off x="640080" y="5257800"/>
            <a:ext cx="10908792" cy="640080"/>
          </a:xfrm>
          <a:prstGeom prst="rect">
            <a:avLst/>
          </a:prstGeom>
          <a:noFill/>
          <a:ln/>
        </p:spPr>
        <p:txBody>
          <a:bodyPr wrap="square" lIns="0" tIns="0" rIns="0" bIns="0" rtlCol="0" anchor="ctr"/>
          <a:lstStyle/>
          <a:p>
            <a:pPr indent="0" marL="0">
              <a:buNone/>
            </a:pPr>
            <a:r>
              <a:rPr lang="en-US" sz="1450" b="1" i="1" dirty="0">
                <a:solidFill>
                  <a:srgbClr val="1E3A2B"/>
                </a:solidFill>
                <a:latin typeface="Calibri" pitchFamily="34" charset="0"/>
                <a:ea typeface="Calibri" pitchFamily="34" charset="-122"/>
                <a:cs typeface="Calibri" pitchFamily="34" charset="-120"/>
              </a:rPr>
              <a:t>Why this fits us:  </a:t>
            </a:r>
            <a:pPr indent="0" marL="0">
              <a:buNone/>
            </a:pPr>
            <a:r>
              <a:rPr lang="en-US" sz="1450" i="1" dirty="0">
                <a:solidFill>
                  <a:srgbClr val="1E3A2B"/>
                </a:solidFill>
                <a:latin typeface="Calibri" pitchFamily="34" charset="0"/>
                <a:ea typeface="Calibri" pitchFamily="34" charset="-122"/>
                <a:cs typeface="Calibri" pitchFamily="34" charset="-120"/>
              </a:rPr>
              <a:t>we already have the parts — walk recaps as posts, a shelter feed, a community network. The walk → photo → share → someone adopts loop is the proven engine, and we can wire it.</a:t>
            </a:r>
            <a:endParaRPr lang="en-US" sz="1450" dirty="0"/>
          </a:p>
        </p:txBody>
      </p:sp>
      <p:sp>
        <p:nvSpPr>
          <p:cNvPr id="15" name="Text 13"/>
          <p:cNvSpPr/>
          <p:nvPr/>
        </p:nvSpPr>
        <p:spPr>
          <a:xfrm>
            <a:off x="640080" y="6400800"/>
            <a:ext cx="8686800" cy="274320"/>
          </a:xfrm>
          <a:prstGeom prst="rect">
            <a:avLst/>
          </a:prstGeom>
          <a:noFill/>
          <a:ln/>
        </p:spPr>
        <p:txBody>
          <a:bodyPr wrap="square" lIns="0" tIns="0" rIns="0" bIns="0" rtlCol="0" anchor="ctr"/>
          <a:lstStyle/>
          <a:p>
            <a:pPr algn="l" indent="0" marL="0">
              <a:buNone/>
            </a:pPr>
            <a:r>
              <a:rPr lang="en-US" sz="900" i="1" dirty="0">
                <a:solidFill>
                  <a:srgbClr val="61715F"/>
                </a:solidFill>
                <a:latin typeface="Calibri" pitchFamily="34" charset="0"/>
                <a:ea typeface="Calibri" pitchFamily="34" charset="-122"/>
                <a:cs typeface="Calibri" pitchFamily="34" charset="-120"/>
              </a:rPr>
              <a:t>Source: Gunter et al., “Brief Outing &amp; Temporary Fostering Programs on Shelter Dog Welfare,” Animals (2023), n≈27,901.</a:t>
            </a:r>
            <a:endParaRPr lang="en-US" sz="900" dirty="0"/>
          </a:p>
        </p:txBody>
      </p:sp>
      <p:sp>
        <p:nvSpPr>
          <p:cNvPr id="16" name="Text 14"/>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2C7DA0"/>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2C7DA0"/>
                </a:solidFill>
                <a:latin typeface="Calibri" pitchFamily="34" charset="0"/>
                <a:ea typeface="Calibri" pitchFamily="34" charset="-122"/>
                <a:cs typeface="Calibri" pitchFamily="34" charset="-120"/>
              </a:rPr>
              <a:t>THE GIVE-BACK  ·  NEW IDEA</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A give-back that wins shelters and means something.</a:t>
            </a:r>
            <a:endParaRPr lang="en-US" sz="3300" dirty="0"/>
          </a:p>
        </p:txBody>
      </p:sp>
      <p:sp>
        <p:nvSpPr>
          <p:cNvPr id="5" name="Shape 3"/>
          <p:cNvSpPr/>
          <p:nvPr/>
        </p:nvSpPr>
        <p:spPr>
          <a:xfrm>
            <a:off x="640080" y="2103120"/>
            <a:ext cx="3361944" cy="19659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Shape 4"/>
          <p:cNvSpPr/>
          <p:nvPr/>
        </p:nvSpPr>
        <p:spPr>
          <a:xfrm>
            <a:off x="914400" y="2331720"/>
            <a:ext cx="457200" cy="457200"/>
          </a:xfrm>
          <a:prstGeom prst="ellipse">
            <a:avLst/>
          </a:prstGeom>
          <a:solidFill>
            <a:srgbClr val="5E8C63"/>
          </a:solidFill>
          <a:ln/>
        </p:spPr>
      </p:sp>
      <p:sp>
        <p:nvSpPr>
          <p:cNvPr id="7" name="Text 5"/>
          <p:cNvSpPr/>
          <p:nvPr/>
        </p:nvSpPr>
        <p:spPr>
          <a:xfrm>
            <a:off x="91440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1508760" y="2331720"/>
            <a:ext cx="2264664" cy="502920"/>
          </a:xfrm>
          <a:prstGeom prst="rect">
            <a:avLst/>
          </a:prstGeom>
          <a:noFill/>
          <a:ln/>
        </p:spPr>
        <p:txBody>
          <a:bodyPr wrap="square" lIns="0" tIns="0" rIns="0" bIns="0" rtlCol="0" anchor="ctr"/>
          <a:lstStyle/>
          <a:p>
            <a:pPr indent="0" marL="0">
              <a:buNone/>
            </a:pPr>
            <a:r>
              <a:rPr lang="en-US" sz="1700" b="1" dirty="0">
                <a:solidFill>
                  <a:srgbClr val="1E3A2B"/>
                </a:solidFill>
                <a:latin typeface="Georgia" pitchFamily="34" charset="0"/>
                <a:ea typeface="Georgia" pitchFamily="34" charset="-122"/>
                <a:cs typeface="Georgia" pitchFamily="34" charset="-120"/>
              </a:rPr>
              <a:t>More adoptions</a:t>
            </a:r>
            <a:endParaRPr lang="en-US" sz="1700" dirty="0"/>
          </a:p>
        </p:txBody>
      </p:sp>
      <p:sp>
        <p:nvSpPr>
          <p:cNvPr id="9" name="Text 7"/>
          <p:cNvSpPr/>
          <p:nvPr/>
        </p:nvSpPr>
        <p:spPr>
          <a:xfrm>
            <a:off x="914400" y="2926080"/>
            <a:ext cx="2813304" cy="100584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Our users become advocates who surface shelter dogs to adopters.</a:t>
            </a:r>
            <a:endParaRPr lang="en-US" sz="1350" dirty="0"/>
          </a:p>
        </p:txBody>
      </p:sp>
      <p:sp>
        <p:nvSpPr>
          <p:cNvPr id="10" name="Shape 8"/>
          <p:cNvSpPr/>
          <p:nvPr/>
        </p:nvSpPr>
        <p:spPr>
          <a:xfrm>
            <a:off x="4413504" y="2103120"/>
            <a:ext cx="3361944" cy="19659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1" name="Shape 9"/>
          <p:cNvSpPr/>
          <p:nvPr/>
        </p:nvSpPr>
        <p:spPr>
          <a:xfrm>
            <a:off x="4687824" y="2331720"/>
            <a:ext cx="457200" cy="457200"/>
          </a:xfrm>
          <a:prstGeom prst="ellipse">
            <a:avLst/>
          </a:prstGeom>
          <a:solidFill>
            <a:srgbClr val="2C7DA0"/>
          </a:solidFill>
          <a:ln/>
        </p:spPr>
      </p:sp>
      <p:sp>
        <p:nvSpPr>
          <p:cNvPr id="12" name="Text 10"/>
          <p:cNvSpPr/>
          <p:nvPr/>
        </p:nvSpPr>
        <p:spPr>
          <a:xfrm>
            <a:off x="4687824"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5282184" y="2331720"/>
            <a:ext cx="2264664" cy="502920"/>
          </a:xfrm>
          <a:prstGeom prst="rect">
            <a:avLst/>
          </a:prstGeom>
          <a:noFill/>
          <a:ln/>
        </p:spPr>
        <p:txBody>
          <a:bodyPr wrap="square" lIns="0" tIns="0" rIns="0" bIns="0" rtlCol="0" anchor="ctr"/>
          <a:lstStyle/>
          <a:p>
            <a:pPr indent="0" marL="0">
              <a:buNone/>
            </a:pPr>
            <a:r>
              <a:rPr lang="en-US" sz="1700" b="1" dirty="0">
                <a:solidFill>
                  <a:srgbClr val="1E3A2B"/>
                </a:solidFill>
                <a:latin typeface="Georgia" pitchFamily="34" charset="0"/>
                <a:ea typeface="Georgia" pitchFamily="34" charset="-122"/>
                <a:cs typeface="Georgia" pitchFamily="34" charset="-120"/>
              </a:rPr>
              <a:t>Vetted walkers</a:t>
            </a:r>
            <a:endParaRPr lang="en-US" sz="1700" dirty="0"/>
          </a:p>
        </p:txBody>
      </p:sp>
      <p:sp>
        <p:nvSpPr>
          <p:cNvPr id="14" name="Text 12"/>
          <p:cNvSpPr/>
          <p:nvPr/>
        </p:nvSpPr>
        <p:spPr>
          <a:xfrm>
            <a:off x="4687824" y="2926080"/>
            <a:ext cx="2813304" cy="100584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Credentialed weekend &amp; evening walkers — the people shelters' weekday rules screen out.</a:t>
            </a:r>
            <a:endParaRPr lang="en-US" sz="1350" dirty="0"/>
          </a:p>
        </p:txBody>
      </p:sp>
      <p:sp>
        <p:nvSpPr>
          <p:cNvPr id="15" name="Shape 13"/>
          <p:cNvSpPr/>
          <p:nvPr/>
        </p:nvSpPr>
        <p:spPr>
          <a:xfrm>
            <a:off x="8186928" y="2103120"/>
            <a:ext cx="3361944" cy="19659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6" name="Shape 14"/>
          <p:cNvSpPr/>
          <p:nvPr/>
        </p:nvSpPr>
        <p:spPr>
          <a:xfrm>
            <a:off x="8461248" y="2331720"/>
            <a:ext cx="457200" cy="457200"/>
          </a:xfrm>
          <a:prstGeom prst="ellipse">
            <a:avLst/>
          </a:prstGeom>
          <a:solidFill>
            <a:srgbClr val="D8943A"/>
          </a:solidFill>
          <a:ln/>
        </p:spPr>
      </p:sp>
      <p:sp>
        <p:nvSpPr>
          <p:cNvPr id="17" name="Text 15"/>
          <p:cNvSpPr/>
          <p:nvPr/>
        </p:nvSpPr>
        <p:spPr>
          <a:xfrm>
            <a:off x="8461248"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6"/>
          <p:cNvSpPr/>
          <p:nvPr/>
        </p:nvSpPr>
        <p:spPr>
          <a:xfrm>
            <a:off x="9055608" y="2331720"/>
            <a:ext cx="2264664" cy="502920"/>
          </a:xfrm>
          <a:prstGeom prst="rect">
            <a:avLst/>
          </a:prstGeom>
          <a:noFill/>
          <a:ln/>
        </p:spPr>
        <p:txBody>
          <a:bodyPr wrap="square" lIns="0" tIns="0" rIns="0" bIns="0" rtlCol="0" anchor="ctr"/>
          <a:lstStyle/>
          <a:p>
            <a:pPr indent="0" marL="0">
              <a:buNone/>
            </a:pPr>
            <a:r>
              <a:rPr lang="en-US" sz="1700" b="1" dirty="0">
                <a:solidFill>
                  <a:srgbClr val="1E3A2B"/>
                </a:solidFill>
                <a:latin typeface="Georgia" pitchFamily="34" charset="0"/>
                <a:ea typeface="Georgia" pitchFamily="34" charset="-122"/>
                <a:cs typeface="Georgia" pitchFamily="34" charset="-120"/>
              </a:rPr>
              <a:t>A donation stream</a:t>
            </a:r>
            <a:endParaRPr lang="en-US" sz="1700" dirty="0"/>
          </a:p>
        </p:txBody>
      </p:sp>
      <p:sp>
        <p:nvSpPr>
          <p:cNvPr id="19" name="Text 17"/>
          <p:cNvSpPr/>
          <p:nvPr/>
        </p:nvSpPr>
        <p:spPr>
          <a:xfrm>
            <a:off x="8461248" y="2926080"/>
            <a:ext cx="2813304" cy="100584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Sponsor-a-dog + a share of care fees, routed transparently to partner shelters.</a:t>
            </a:r>
            <a:endParaRPr lang="en-US" sz="1350" dirty="0"/>
          </a:p>
        </p:txBody>
      </p:sp>
      <p:sp>
        <p:nvSpPr>
          <p:cNvPr id="20" name="Shape 18"/>
          <p:cNvSpPr/>
          <p:nvPr/>
        </p:nvSpPr>
        <p:spPr>
          <a:xfrm>
            <a:off x="640080" y="4343400"/>
            <a:ext cx="10908792" cy="1417320"/>
          </a:xfrm>
          <a:prstGeom prst="rect">
            <a:avLst/>
          </a:prstGeom>
          <a:solidFill>
            <a:srgbClr val="21402F"/>
          </a:solidFill>
          <a:ln/>
        </p:spPr>
      </p:sp>
      <p:sp>
        <p:nvSpPr>
          <p:cNvPr id="21" name="Text 19"/>
          <p:cNvSpPr/>
          <p:nvPr/>
        </p:nvSpPr>
        <p:spPr>
          <a:xfrm>
            <a:off x="960120" y="4480560"/>
            <a:ext cx="10058400" cy="365760"/>
          </a:xfrm>
          <a:prstGeom prst="rect">
            <a:avLst/>
          </a:prstGeom>
          <a:noFill/>
          <a:ln/>
        </p:spPr>
        <p:txBody>
          <a:bodyPr wrap="square" lIns="0" tIns="0" rIns="0" bIns="0" rtlCol="0" anchor="ctr"/>
          <a:lstStyle/>
          <a:p>
            <a:pPr indent="0" marL="0">
              <a:buNone/>
            </a:pPr>
            <a:r>
              <a:rPr lang="en-US" sz="1400" b="1" dirty="0">
                <a:solidFill>
                  <a:srgbClr val="D8943A"/>
                </a:solidFill>
                <a:latin typeface="Calibri" pitchFamily="34" charset="0"/>
                <a:ea typeface="Calibri" pitchFamily="34" charset="-122"/>
                <a:cs typeface="Calibri" pitchFamily="34" charset="-120"/>
              </a:rPr>
              <a:t>How we keep it real, not performative</a:t>
            </a:r>
            <a:endParaRPr lang="en-US" sz="1400" dirty="0"/>
          </a:p>
        </p:txBody>
      </p:sp>
      <p:sp>
        <p:nvSpPr>
          <p:cNvPr id="22" name="Text 20"/>
          <p:cNvSpPr/>
          <p:nvPr/>
        </p:nvSpPr>
        <p:spPr>
          <a:xfrm>
            <a:off x="960120" y="4892040"/>
            <a:ext cx="10268712" cy="77724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Aligned beats generic</a:t>
            </a:r>
            <a:pPr indent="0" marL="0">
              <a:lnSpc>
                <a:spcPct val="105000"/>
              </a:lnSpc>
              <a:buNone/>
            </a:pPr>
            <a:r>
              <a:rPr lang="en-US" sz="1350" dirty="0">
                <a:solidFill>
                  <a:srgbClr val="9CBF9E"/>
                </a:solidFill>
                <a:latin typeface="Calibri" pitchFamily="34" charset="0"/>
                <a:ea typeface="Calibri" pitchFamily="34" charset="-122"/>
                <a:cs typeface="Calibri" pitchFamily="34" charset="-120"/>
              </a:rPr>
              <a:t> — a dog platform funding dog shelters is the alignment that makes give-back actually drive loyalty (it out-performs discounts in the research).   </a:t>
            </a:r>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Transparent like Chewy</a:t>
            </a:r>
            <a:pPr indent="0" marL="0">
              <a:lnSpc>
                <a:spcPct val="105000"/>
              </a:lnSpc>
              <a:buNone/>
            </a:pPr>
            <a:r>
              <a:rPr lang="en-US" sz="1350" dirty="0">
                <a:solidFill>
                  <a:srgbClr val="9CBF9E"/>
                </a:solidFill>
                <a:latin typeface="Calibri" pitchFamily="34" charset="0"/>
                <a:ea typeface="Calibri" pitchFamily="34" charset="-122"/>
                <a:cs typeface="Calibri" pitchFamily="34" charset="-120"/>
              </a:rPr>
              <a:t> — show exactly where money goes; the donor gets the credit, never us.</a:t>
            </a:r>
            <a:endParaRPr lang="en-US" sz="1350" dirty="0"/>
          </a:p>
        </p:txBody>
      </p:sp>
      <p:sp>
        <p:nvSpPr>
          <p:cNvPr id="23" name="Text 21"/>
          <p:cNvSpPr/>
          <p:nvPr/>
        </p:nvSpPr>
        <p:spPr>
          <a:xfrm>
            <a:off x="640080" y="5943600"/>
            <a:ext cx="10908792" cy="457200"/>
          </a:xfrm>
          <a:prstGeom prst="rect">
            <a:avLst/>
          </a:prstGeom>
          <a:noFill/>
          <a:ln/>
        </p:spPr>
        <p:txBody>
          <a:bodyPr wrap="square" lIns="0" tIns="0" rIns="0" bIns="0" rtlCol="0" anchor="ctr"/>
          <a:lstStyle/>
          <a:p>
            <a:pPr indent="0" marL="0">
              <a:buNone/>
            </a:pPr>
            <a:r>
              <a:rPr lang="en-US" sz="1300" i="1" dirty="0">
                <a:solidFill>
                  <a:srgbClr val="1E3A2B"/>
                </a:solidFill>
                <a:latin typeface="Calibri" pitchFamily="34" charset="0"/>
                <a:ea typeface="Calibri" pitchFamily="34" charset="-122"/>
                <a:cs typeface="Calibri" pitchFamily="34" charset="-120"/>
              </a:rPr>
              <a:t>Lightest first: start with sponsor-a-dog, graduate to a fee share once there's revenue. No equity given up — this stays a for-profit with a heart.</a:t>
            </a:r>
            <a:endParaRPr lang="en-US" sz="1300" dirty="0"/>
          </a:p>
        </p:txBody>
      </p:sp>
      <p:sp>
        <p:nvSpPr>
          <p:cNvPr id="24" name="Text 22"/>
          <p:cNvSpPr/>
          <p:nvPr/>
        </p:nvSpPr>
        <p:spPr>
          <a:xfrm>
            <a:off x="640080" y="6400800"/>
            <a:ext cx="8686800" cy="274320"/>
          </a:xfrm>
          <a:prstGeom prst="rect">
            <a:avLst/>
          </a:prstGeom>
          <a:noFill/>
          <a:ln/>
        </p:spPr>
        <p:txBody>
          <a:bodyPr wrap="square" lIns="0" tIns="0" rIns="0" bIns="0" rtlCol="0" anchor="ctr"/>
          <a:lstStyle/>
          <a:p>
            <a:pPr algn="l" indent="0" marL="0">
              <a:buNone/>
            </a:pPr>
            <a:r>
              <a:rPr lang="en-US" sz="900" i="1" dirty="0">
                <a:solidFill>
                  <a:srgbClr val="61715F"/>
                </a:solidFill>
                <a:latin typeface="Calibri" pitchFamily="34" charset="0"/>
                <a:ea typeface="Calibri" pitchFamily="34" charset="-122"/>
                <a:cs typeface="Calibri" pitchFamily="34" charset="-120"/>
              </a:rPr>
              <a:t>Sources: cause-marketing field experiments (J. of Marketing); Chewy Gives Back ($180M+ to shelters).</a:t>
            </a:r>
            <a:endParaRPr lang="en-US" sz="900" dirty="0"/>
          </a:p>
        </p:txBody>
      </p:sp>
      <p:sp>
        <p:nvSpPr>
          <p:cNvPr id="25" name="Text 23"/>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5E8C63"/>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5E8C63"/>
                </a:solidFill>
                <a:latin typeface="Calibri" pitchFamily="34" charset="0"/>
                <a:ea typeface="Calibri" pitchFamily="34" charset="-122"/>
                <a:cs typeface="Calibri" pitchFamily="34" charset="-120"/>
              </a:rPr>
              <a:t>THE PLAN</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Three demo paths, each proving one thing.</a:t>
            </a:r>
            <a:endParaRPr lang="en-US" sz="3300" dirty="0"/>
          </a:p>
        </p:txBody>
      </p:sp>
      <p:sp>
        <p:nvSpPr>
          <p:cNvPr id="5" name="Shape 3"/>
          <p:cNvSpPr/>
          <p:nvPr/>
        </p:nvSpPr>
        <p:spPr>
          <a:xfrm>
            <a:off x="640080" y="2057400"/>
            <a:ext cx="3361944" cy="37947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Shape 4"/>
          <p:cNvSpPr/>
          <p:nvPr/>
        </p:nvSpPr>
        <p:spPr>
          <a:xfrm>
            <a:off x="640080" y="2057400"/>
            <a:ext cx="3361944" cy="868680"/>
          </a:xfrm>
          <a:prstGeom prst="rect">
            <a:avLst/>
          </a:prstGeom>
          <a:solidFill>
            <a:srgbClr val="5E8C63"/>
          </a:solidFill>
          <a:ln/>
        </p:spPr>
      </p:sp>
      <p:sp>
        <p:nvSpPr>
          <p:cNvPr id="7" name="Text 5"/>
          <p:cNvSpPr/>
          <p:nvPr/>
        </p:nvSpPr>
        <p:spPr>
          <a:xfrm>
            <a:off x="914400" y="2148840"/>
            <a:ext cx="2813304"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PATH 1</a:t>
            </a:r>
            <a:endParaRPr lang="en-US" sz="1100" dirty="0"/>
          </a:p>
        </p:txBody>
      </p:sp>
      <p:sp>
        <p:nvSpPr>
          <p:cNvPr id="8" name="Text 6"/>
          <p:cNvSpPr/>
          <p:nvPr/>
        </p:nvSpPr>
        <p:spPr>
          <a:xfrm>
            <a:off x="914400" y="2395728"/>
            <a:ext cx="2813304"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New dog owner</a:t>
            </a:r>
            <a:endParaRPr lang="en-US" sz="1900" dirty="0"/>
          </a:p>
        </p:txBody>
      </p:sp>
      <p:sp>
        <p:nvSpPr>
          <p:cNvPr id="9" name="Text 7"/>
          <p:cNvSpPr/>
          <p:nvPr/>
        </p:nvSpPr>
        <p:spPr>
          <a:xfrm>
            <a:off x="914400" y="3017520"/>
            <a:ext cx="2813304" cy="365760"/>
          </a:xfrm>
          <a:prstGeom prst="rect">
            <a:avLst/>
          </a:prstGeom>
          <a:noFill/>
          <a:ln/>
        </p:spPr>
        <p:txBody>
          <a:bodyPr wrap="square" lIns="0" tIns="0" rIns="0" bIns="0" rtlCol="0" anchor="ctr"/>
          <a:lstStyle/>
          <a:p>
            <a:pPr indent="0" marL="0">
              <a:buNone/>
            </a:pPr>
            <a:r>
              <a:rPr lang="en-US" sz="1400" b="1" i="1" dirty="0">
                <a:solidFill>
                  <a:srgbClr val="5E8C63"/>
                </a:solidFill>
                <a:latin typeface="Calibri" pitchFamily="34" charset="0"/>
                <a:ea typeface="Calibri" pitchFamily="34" charset="-122"/>
                <a:cs typeface="Calibri" pitchFamily="34" charset="-120"/>
              </a:rPr>
              <a:t>Find your community</a:t>
            </a:r>
            <a:endParaRPr lang="en-US" sz="1400" dirty="0"/>
          </a:p>
        </p:txBody>
      </p:sp>
      <p:sp>
        <p:nvSpPr>
          <p:cNvPr id="10" name="Text 8"/>
          <p:cNvSpPr/>
          <p:nvPr/>
        </p:nvSpPr>
        <p:spPr>
          <a:xfrm>
            <a:off x="914400" y="3474720"/>
            <a:ext cx="2813304" cy="123444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Proves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That a nervous new owner lands in a warm community and finds trust — the on-ramp works.</a:t>
            </a:r>
            <a:endParaRPr lang="en-US" sz="1200" dirty="0"/>
          </a:p>
        </p:txBody>
      </p:sp>
      <p:sp>
        <p:nvSpPr>
          <p:cNvPr id="11" name="Text 9"/>
          <p:cNvSpPr/>
          <p:nvPr/>
        </p:nvSpPr>
        <p:spPr>
          <a:xfrm>
            <a:off x="914400" y="4709160"/>
            <a:ext cx="2813304" cy="91440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We want to learn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Does “social early and often” land? Where does onboarding lose people?</a:t>
            </a:r>
            <a:endParaRPr lang="en-US" sz="1200" dirty="0"/>
          </a:p>
        </p:txBody>
      </p:sp>
      <p:sp>
        <p:nvSpPr>
          <p:cNvPr id="12" name="Text 10"/>
          <p:cNvSpPr/>
          <p:nvPr/>
        </p:nvSpPr>
        <p:spPr>
          <a:xfrm>
            <a:off x="914400" y="5504688"/>
            <a:ext cx="2813304" cy="274320"/>
          </a:xfrm>
          <a:prstGeom prst="rect">
            <a:avLst/>
          </a:prstGeom>
          <a:noFill/>
          <a:ln/>
        </p:spPr>
        <p:txBody>
          <a:bodyPr wrap="square" lIns="0" tIns="0" rIns="0" bIns="0" rtlCol="0" anchor="ctr"/>
          <a:lstStyle/>
          <a:p>
            <a:pPr indent="0" marL="0">
              <a:buNone/>
            </a:pPr>
            <a:r>
              <a:rPr lang="en-US" sz="1000" b="1" spc="100" kern="0" dirty="0">
                <a:solidFill>
                  <a:srgbClr val="5E8C63"/>
                </a:solidFill>
                <a:latin typeface="Calibri" pitchFamily="34" charset="0"/>
                <a:ea typeface="Calibri" pitchFamily="34" charset="-122"/>
                <a:cs typeface="Calibri" pitchFamily="34" charset="-120"/>
              </a:rPr>
              <a:t>TESTED — POSITIVE</a:t>
            </a:r>
            <a:endParaRPr lang="en-US" sz="1000" dirty="0"/>
          </a:p>
        </p:txBody>
      </p:sp>
      <p:sp>
        <p:nvSpPr>
          <p:cNvPr id="13" name="Shape 11"/>
          <p:cNvSpPr/>
          <p:nvPr/>
        </p:nvSpPr>
        <p:spPr>
          <a:xfrm>
            <a:off x="4413504" y="2057400"/>
            <a:ext cx="3361944" cy="37947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4" name="Shape 12"/>
          <p:cNvSpPr/>
          <p:nvPr/>
        </p:nvSpPr>
        <p:spPr>
          <a:xfrm>
            <a:off x="4413504" y="2057400"/>
            <a:ext cx="3361944" cy="868680"/>
          </a:xfrm>
          <a:prstGeom prst="rect">
            <a:avLst/>
          </a:prstGeom>
          <a:solidFill>
            <a:srgbClr val="2C7DA0"/>
          </a:solidFill>
          <a:ln/>
        </p:spPr>
      </p:sp>
      <p:sp>
        <p:nvSpPr>
          <p:cNvPr id="15" name="Text 13"/>
          <p:cNvSpPr/>
          <p:nvPr/>
        </p:nvSpPr>
        <p:spPr>
          <a:xfrm>
            <a:off x="4687824" y="2148840"/>
            <a:ext cx="2813304"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PATH 2</a:t>
            </a:r>
            <a:endParaRPr lang="en-US" sz="1100" dirty="0"/>
          </a:p>
        </p:txBody>
      </p:sp>
      <p:sp>
        <p:nvSpPr>
          <p:cNvPr id="16" name="Text 14"/>
          <p:cNvSpPr/>
          <p:nvPr/>
        </p:nvSpPr>
        <p:spPr>
          <a:xfrm>
            <a:off x="4687824" y="2395728"/>
            <a:ext cx="2813304"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Trainer / walker</a:t>
            </a:r>
            <a:endParaRPr lang="en-US" sz="1900" dirty="0"/>
          </a:p>
        </p:txBody>
      </p:sp>
      <p:sp>
        <p:nvSpPr>
          <p:cNvPr id="17" name="Text 15"/>
          <p:cNvSpPr/>
          <p:nvPr/>
        </p:nvSpPr>
        <p:spPr>
          <a:xfrm>
            <a:off x="4687824" y="3017520"/>
            <a:ext cx="2813304" cy="365760"/>
          </a:xfrm>
          <a:prstGeom prst="rect">
            <a:avLst/>
          </a:prstGeom>
          <a:noFill/>
          <a:ln/>
        </p:spPr>
        <p:txBody>
          <a:bodyPr wrap="square" lIns="0" tIns="0" rIns="0" bIns="0" rtlCol="0" anchor="ctr"/>
          <a:lstStyle/>
          <a:p>
            <a:pPr indent="0" marL="0">
              <a:buNone/>
            </a:pPr>
            <a:r>
              <a:rPr lang="en-US" sz="1400" b="1" i="1" dirty="0">
                <a:solidFill>
                  <a:srgbClr val="2C7DA0"/>
                </a:solidFill>
                <a:latin typeface="Calibri" pitchFamily="34" charset="0"/>
                <a:ea typeface="Calibri" pitchFamily="34" charset="-122"/>
                <a:cs typeface="Calibri" pitchFamily="34" charset="-120"/>
              </a:rPr>
              <a:t>Build community &amp; profit</a:t>
            </a:r>
            <a:endParaRPr lang="en-US" sz="1400" dirty="0"/>
          </a:p>
        </p:txBody>
      </p:sp>
      <p:sp>
        <p:nvSpPr>
          <p:cNvPr id="18" name="Text 16"/>
          <p:cNvSpPr/>
          <p:nvPr/>
        </p:nvSpPr>
        <p:spPr>
          <a:xfrm>
            <a:off x="4687824" y="3474720"/>
            <a:ext cx="2813304" cy="123444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Proves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That a pro can build a following and earn — incl. paid mentor walks — so the marketplace has a supply side.</a:t>
            </a:r>
            <a:endParaRPr lang="en-US" sz="1200" dirty="0"/>
          </a:p>
        </p:txBody>
      </p:sp>
      <p:sp>
        <p:nvSpPr>
          <p:cNvPr id="19" name="Text 17"/>
          <p:cNvSpPr/>
          <p:nvPr/>
        </p:nvSpPr>
        <p:spPr>
          <a:xfrm>
            <a:off x="4687824" y="4709160"/>
            <a:ext cx="2813304" cy="91440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We want to learn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Is the earn path credible? Does credentialing read as valuable?</a:t>
            </a:r>
            <a:endParaRPr lang="en-US" sz="1200" dirty="0"/>
          </a:p>
        </p:txBody>
      </p:sp>
      <p:sp>
        <p:nvSpPr>
          <p:cNvPr id="20" name="Text 18"/>
          <p:cNvSpPr/>
          <p:nvPr/>
        </p:nvSpPr>
        <p:spPr>
          <a:xfrm>
            <a:off x="4687824" y="5504688"/>
            <a:ext cx="2813304" cy="274320"/>
          </a:xfrm>
          <a:prstGeom prst="rect">
            <a:avLst/>
          </a:prstGeom>
          <a:noFill/>
          <a:ln/>
        </p:spPr>
        <p:txBody>
          <a:bodyPr wrap="square" lIns="0" tIns="0" rIns="0" bIns="0" rtlCol="0" anchor="ctr"/>
          <a:lstStyle/>
          <a:p>
            <a:pPr indent="0" marL="0">
              <a:buNone/>
            </a:pPr>
            <a:r>
              <a:rPr lang="en-US" sz="1000" b="1" spc="100" kern="0" dirty="0">
                <a:solidFill>
                  <a:srgbClr val="2C7DA0"/>
                </a:solidFill>
                <a:latin typeface="Calibri" pitchFamily="34" charset="0"/>
                <a:ea typeface="Calibri" pitchFamily="34" charset="-122"/>
                <a:cs typeface="Calibri" pitchFamily="34" charset="-120"/>
              </a:rPr>
              <a:t>PARTLY TESTED</a:t>
            </a:r>
            <a:endParaRPr lang="en-US" sz="1000" dirty="0"/>
          </a:p>
        </p:txBody>
      </p:sp>
      <p:sp>
        <p:nvSpPr>
          <p:cNvPr id="21" name="Shape 19"/>
          <p:cNvSpPr/>
          <p:nvPr/>
        </p:nvSpPr>
        <p:spPr>
          <a:xfrm>
            <a:off x="8186928" y="2057400"/>
            <a:ext cx="3361944" cy="37947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22" name="Shape 20"/>
          <p:cNvSpPr/>
          <p:nvPr/>
        </p:nvSpPr>
        <p:spPr>
          <a:xfrm>
            <a:off x="8186928" y="2057400"/>
            <a:ext cx="3361944" cy="868680"/>
          </a:xfrm>
          <a:prstGeom prst="rect">
            <a:avLst/>
          </a:prstGeom>
          <a:solidFill>
            <a:srgbClr val="D8943A"/>
          </a:solidFill>
          <a:ln/>
        </p:spPr>
      </p:sp>
      <p:sp>
        <p:nvSpPr>
          <p:cNvPr id="23" name="Text 21"/>
          <p:cNvSpPr/>
          <p:nvPr/>
        </p:nvSpPr>
        <p:spPr>
          <a:xfrm>
            <a:off x="8461248" y="2148840"/>
            <a:ext cx="2813304"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PATH 3</a:t>
            </a:r>
            <a:endParaRPr lang="en-US" sz="1100" dirty="0"/>
          </a:p>
        </p:txBody>
      </p:sp>
      <p:sp>
        <p:nvSpPr>
          <p:cNvPr id="24" name="Text 22"/>
          <p:cNvSpPr/>
          <p:nvPr/>
        </p:nvSpPr>
        <p:spPr>
          <a:xfrm>
            <a:off x="8461248" y="2395728"/>
            <a:ext cx="2813304"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Shelter</a:t>
            </a:r>
            <a:endParaRPr lang="en-US" sz="1900" dirty="0"/>
          </a:p>
        </p:txBody>
      </p:sp>
      <p:sp>
        <p:nvSpPr>
          <p:cNvPr id="25" name="Text 23"/>
          <p:cNvSpPr/>
          <p:nvPr/>
        </p:nvSpPr>
        <p:spPr>
          <a:xfrm>
            <a:off x="8461248" y="3017520"/>
            <a:ext cx="2813304" cy="365760"/>
          </a:xfrm>
          <a:prstGeom prst="rect">
            <a:avLst/>
          </a:prstGeom>
          <a:noFill/>
          <a:ln/>
        </p:spPr>
        <p:txBody>
          <a:bodyPr wrap="square" lIns="0" tIns="0" rIns="0" bIns="0" rtlCol="0" anchor="ctr"/>
          <a:lstStyle/>
          <a:p>
            <a:pPr indent="0" marL="0">
              <a:buNone/>
            </a:pPr>
            <a:r>
              <a:rPr lang="en-US" sz="1400" b="1" i="1" dirty="0">
                <a:solidFill>
                  <a:srgbClr val="D8943A"/>
                </a:solidFill>
                <a:latin typeface="Calibri" pitchFamily="34" charset="0"/>
                <a:ea typeface="Calibri" pitchFamily="34" charset="-122"/>
                <a:cs typeface="Calibri" pitchFamily="34" charset="-120"/>
              </a:rPr>
              <a:t>Get dogs adopted</a:t>
            </a:r>
            <a:endParaRPr lang="en-US" sz="1400" dirty="0"/>
          </a:p>
        </p:txBody>
      </p:sp>
      <p:sp>
        <p:nvSpPr>
          <p:cNvPr id="26" name="Text 24"/>
          <p:cNvSpPr/>
          <p:nvPr/>
        </p:nvSpPr>
        <p:spPr>
          <a:xfrm>
            <a:off x="8461248" y="3474720"/>
            <a:ext cx="2813304" cy="123444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Proves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That the advocacy loop + give-back turns walkers into adoption advocates.</a:t>
            </a:r>
            <a:endParaRPr lang="en-US" sz="1200" dirty="0"/>
          </a:p>
        </p:txBody>
      </p:sp>
      <p:sp>
        <p:nvSpPr>
          <p:cNvPr id="27" name="Text 25"/>
          <p:cNvSpPr/>
          <p:nvPr/>
        </p:nvSpPr>
        <p:spPr>
          <a:xfrm>
            <a:off x="8461248" y="4709160"/>
            <a:ext cx="2813304" cy="914400"/>
          </a:xfrm>
          <a:prstGeom prst="rect">
            <a:avLst/>
          </a:prstGeom>
          <a:noFill/>
          <a:ln/>
        </p:spPr>
        <p:txBody>
          <a:bodyPr wrap="square" lIns="0" tIns="0" rIns="0" bIns="0" rtlCol="0" anchor="t"/>
          <a:lstStyle/>
          <a:p>
            <a:pPr indent="0" marL="0">
              <a:lnSpc>
                <a:spcPct val="105000"/>
              </a:lnSpc>
              <a:buNone/>
            </a:pPr>
            <a:r>
              <a:rPr lang="en-US" sz="1200" b="1" dirty="0">
                <a:solidFill>
                  <a:srgbClr val="1E3A2B"/>
                </a:solidFill>
                <a:latin typeface="Calibri" pitchFamily="34" charset="0"/>
                <a:ea typeface="Calibri" pitchFamily="34" charset="-122"/>
                <a:cs typeface="Calibri" pitchFamily="34" charset="-120"/>
              </a:rPr>
              <a:t>We want to learn
</a:t>
            </a:r>
            <a:endParaRPr lang="en-US" sz="1200" dirty="0"/>
          </a:p>
          <a:p>
            <a:pPr indent="0" marL="0">
              <a:lnSpc>
                <a:spcPct val="105000"/>
              </a:lnSpc>
              <a:buNone/>
            </a:pPr>
            <a:r>
              <a:rPr lang="en-US" sz="1300" dirty="0">
                <a:solidFill>
                  <a:srgbClr val="61715F"/>
                </a:solidFill>
                <a:latin typeface="Calibri" pitchFamily="34" charset="0"/>
                <a:ea typeface="Calibri" pitchFamily="34" charset="-122"/>
                <a:cs typeface="Calibri" pitchFamily="34" charset="-120"/>
              </a:rPr>
              <a:t>Would a real shelter say yes? What's the binding constraint?</a:t>
            </a:r>
            <a:endParaRPr lang="en-US" sz="1200" dirty="0"/>
          </a:p>
        </p:txBody>
      </p:sp>
      <p:sp>
        <p:nvSpPr>
          <p:cNvPr id="28" name="Text 26"/>
          <p:cNvSpPr/>
          <p:nvPr/>
        </p:nvSpPr>
        <p:spPr>
          <a:xfrm>
            <a:off x="8461248" y="5504688"/>
            <a:ext cx="2813304" cy="274320"/>
          </a:xfrm>
          <a:prstGeom prst="rect">
            <a:avLst/>
          </a:prstGeom>
          <a:noFill/>
          <a:ln/>
        </p:spPr>
        <p:txBody>
          <a:bodyPr wrap="square" lIns="0" tIns="0" rIns="0" bIns="0" rtlCol="0" anchor="ctr"/>
          <a:lstStyle/>
          <a:p>
            <a:pPr indent="0" marL="0">
              <a:buNone/>
            </a:pPr>
            <a:r>
              <a:rPr lang="en-US" sz="1000" b="1" spc="100" kern="0" dirty="0">
                <a:solidFill>
                  <a:srgbClr val="D8943A"/>
                </a:solidFill>
                <a:latin typeface="Calibri" pitchFamily="34" charset="0"/>
                <a:ea typeface="Calibri" pitchFamily="34" charset="-122"/>
                <a:cs typeface="Calibri" pitchFamily="34" charset="-120"/>
              </a:rPr>
              <a:t>TO BUILD</a:t>
            </a:r>
            <a:endParaRPr lang="en-US" sz="1000" dirty="0"/>
          </a:p>
        </p:txBody>
      </p:sp>
      <p:sp>
        <p:nvSpPr>
          <p:cNvPr id="29" name="Text 27"/>
          <p:cNvSpPr/>
          <p:nvPr/>
        </p:nvSpPr>
        <p:spPr>
          <a:xfrm>
            <a:off x="640080" y="6400800"/>
            <a:ext cx="8686800" cy="274320"/>
          </a:xfrm>
          <a:prstGeom prst="rect">
            <a:avLst/>
          </a:prstGeom>
          <a:noFill/>
          <a:ln/>
        </p:spPr>
        <p:txBody>
          <a:bodyPr wrap="square" lIns="0" tIns="0" rIns="0" bIns="0" rtlCol="0" anchor="ctr"/>
          <a:lstStyle/>
          <a:p>
            <a:pPr algn="l" indent="0" marL="0">
              <a:buNone/>
            </a:pPr>
            <a:r>
              <a:rPr lang="en-US" sz="900" i="1" dirty="0">
                <a:solidFill>
                  <a:srgbClr val="61715F"/>
                </a:solidFill>
                <a:latin typeface="Calibri" pitchFamily="34" charset="0"/>
                <a:ea typeface="Calibri" pitchFamily="34" charset="-122"/>
                <a:cs typeface="Calibri" pitchFamily="34" charset="-120"/>
              </a:rPr>
              <a:t>Maps onto the existing demo arcs: Daniel→Klára, shelter-mentor, adoption-curious.</a:t>
            </a:r>
            <a:endParaRPr lang="en-US" sz="900" dirty="0"/>
          </a:p>
        </p:txBody>
      </p:sp>
      <p:sp>
        <p:nvSpPr>
          <p:cNvPr id="30" name="Text 28"/>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2C7DA0"/>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2C7DA0"/>
                </a:solidFill>
                <a:latin typeface="Calibri" pitchFamily="34" charset="0"/>
                <a:ea typeface="Calibri" pitchFamily="34" charset="-122"/>
                <a:cs typeface="Calibri" pitchFamily="34" charset="-120"/>
              </a:rPr>
              <a:t>HOW IT CONNECTS</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The new positioning threads into each path.</a:t>
            </a:r>
            <a:endParaRPr lang="en-US" sz="3300" dirty="0"/>
          </a:p>
        </p:txBody>
      </p:sp>
      <p:sp>
        <p:nvSpPr>
          <p:cNvPr id="5" name="Shape 3"/>
          <p:cNvSpPr/>
          <p:nvPr/>
        </p:nvSpPr>
        <p:spPr>
          <a:xfrm>
            <a:off x="640080" y="2148840"/>
            <a:ext cx="10908792" cy="10515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Shape 4"/>
          <p:cNvSpPr/>
          <p:nvPr/>
        </p:nvSpPr>
        <p:spPr>
          <a:xfrm>
            <a:off x="640080" y="2148840"/>
            <a:ext cx="146304" cy="1051560"/>
          </a:xfrm>
          <a:prstGeom prst="rect">
            <a:avLst/>
          </a:prstGeom>
          <a:solidFill>
            <a:srgbClr val="5E8C63"/>
          </a:solidFill>
          <a:ln/>
        </p:spPr>
      </p:sp>
      <p:sp>
        <p:nvSpPr>
          <p:cNvPr id="7" name="Text 5"/>
          <p:cNvSpPr/>
          <p:nvPr/>
        </p:nvSpPr>
        <p:spPr>
          <a:xfrm>
            <a:off x="1051560" y="2148840"/>
            <a:ext cx="2468880" cy="1051560"/>
          </a:xfrm>
          <a:prstGeom prst="rect">
            <a:avLst/>
          </a:prstGeom>
          <a:noFill/>
          <a:ln/>
        </p:spPr>
        <p:txBody>
          <a:bodyPr wrap="square" lIns="0" tIns="0" rIns="0" bIns="0" rtlCol="0" anchor="ctr"/>
          <a:lstStyle/>
          <a:p>
            <a:pPr indent="0" marL="0">
              <a:buNone/>
            </a:pPr>
            <a:r>
              <a:rPr lang="en-US" sz="1800" b="1" dirty="0">
                <a:solidFill>
                  <a:srgbClr val="5E8C63"/>
                </a:solidFill>
                <a:latin typeface="Georgia" pitchFamily="34" charset="0"/>
                <a:ea typeface="Georgia" pitchFamily="34" charset="-122"/>
                <a:cs typeface="Georgia" pitchFamily="34" charset="-120"/>
              </a:rPr>
              <a:t>New owner</a:t>
            </a:r>
            <a:endParaRPr lang="en-US" sz="1800" dirty="0"/>
          </a:p>
        </p:txBody>
      </p:sp>
      <p:sp>
        <p:nvSpPr>
          <p:cNvPr id="8" name="Text 6"/>
          <p:cNvSpPr/>
          <p:nvPr/>
        </p:nvSpPr>
        <p:spPr>
          <a:xfrm>
            <a:off x="3657600" y="2148840"/>
            <a:ext cx="7616952" cy="1051560"/>
          </a:xfrm>
          <a:prstGeom prst="rect">
            <a:avLst/>
          </a:prstGeom>
          <a:noFill/>
          <a:ln/>
        </p:spPr>
        <p:txBody>
          <a:bodyPr wrap="square" lIns="0" tIns="0" rIns="0" bIns="0" rtlCol="0" anchor="ctr"/>
          <a:lstStyle/>
          <a:p>
            <a:pPr indent="0" marL="0">
              <a:buNone/>
            </a:pPr>
            <a:r>
              <a:rPr lang="en-US" sz="1500" dirty="0">
                <a:solidFill>
                  <a:srgbClr val="1E3A2B"/>
                </a:solidFill>
                <a:latin typeface="Calibri" pitchFamily="34" charset="0"/>
                <a:ea typeface="Calibri" pitchFamily="34" charset="-122"/>
                <a:cs typeface="Calibri" pitchFamily="34" charset="-120"/>
              </a:rPr>
              <a:t>Lead with the science — “social early and often” as health, not luxury. The relinquishment stat is the hook.</a:t>
            </a:r>
            <a:endParaRPr lang="en-US" sz="1500" dirty="0"/>
          </a:p>
        </p:txBody>
      </p:sp>
      <p:sp>
        <p:nvSpPr>
          <p:cNvPr id="9" name="Shape 7"/>
          <p:cNvSpPr/>
          <p:nvPr/>
        </p:nvSpPr>
        <p:spPr>
          <a:xfrm>
            <a:off x="640080" y="3383280"/>
            <a:ext cx="10908792" cy="10515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0" name="Shape 8"/>
          <p:cNvSpPr/>
          <p:nvPr/>
        </p:nvSpPr>
        <p:spPr>
          <a:xfrm>
            <a:off x="640080" y="3383280"/>
            <a:ext cx="146304" cy="1051560"/>
          </a:xfrm>
          <a:prstGeom prst="rect">
            <a:avLst/>
          </a:prstGeom>
          <a:solidFill>
            <a:srgbClr val="2C7DA0"/>
          </a:solidFill>
          <a:ln/>
        </p:spPr>
      </p:sp>
      <p:sp>
        <p:nvSpPr>
          <p:cNvPr id="11" name="Text 9"/>
          <p:cNvSpPr/>
          <p:nvPr/>
        </p:nvSpPr>
        <p:spPr>
          <a:xfrm>
            <a:off x="1051560" y="3383280"/>
            <a:ext cx="2468880" cy="1051560"/>
          </a:xfrm>
          <a:prstGeom prst="rect">
            <a:avLst/>
          </a:prstGeom>
          <a:noFill/>
          <a:ln/>
        </p:spPr>
        <p:txBody>
          <a:bodyPr wrap="square" lIns="0" tIns="0" rIns="0" bIns="0" rtlCol="0" anchor="ctr"/>
          <a:lstStyle/>
          <a:p>
            <a:pPr indent="0" marL="0">
              <a:buNone/>
            </a:pPr>
            <a:r>
              <a:rPr lang="en-US" sz="1800" b="1" dirty="0">
                <a:solidFill>
                  <a:srgbClr val="2C7DA0"/>
                </a:solidFill>
                <a:latin typeface="Georgia" pitchFamily="34" charset="0"/>
                <a:ea typeface="Georgia" pitchFamily="34" charset="-122"/>
                <a:cs typeface="Georgia" pitchFamily="34" charset="-120"/>
              </a:rPr>
              <a:t>Trainer / walker</a:t>
            </a:r>
            <a:endParaRPr lang="en-US" sz="1800" dirty="0"/>
          </a:p>
        </p:txBody>
      </p:sp>
      <p:sp>
        <p:nvSpPr>
          <p:cNvPr id="12" name="Text 10"/>
          <p:cNvSpPr/>
          <p:nvPr/>
        </p:nvSpPr>
        <p:spPr>
          <a:xfrm>
            <a:off x="3657600" y="3383280"/>
            <a:ext cx="7616952" cy="1051560"/>
          </a:xfrm>
          <a:prstGeom prst="rect">
            <a:avLst/>
          </a:prstGeom>
          <a:noFill/>
          <a:ln/>
        </p:spPr>
        <p:txBody>
          <a:bodyPr wrap="square" lIns="0" tIns="0" rIns="0" bIns="0" rtlCol="0" anchor="ctr"/>
          <a:lstStyle/>
          <a:p>
            <a:pPr indent="0" marL="0">
              <a:buNone/>
            </a:pPr>
            <a:r>
              <a:rPr lang="en-US" sz="1500" dirty="0">
                <a:solidFill>
                  <a:srgbClr val="1E3A2B"/>
                </a:solidFill>
                <a:latin typeface="Calibri" pitchFamily="34" charset="0"/>
                <a:ea typeface="Calibri" pitchFamily="34" charset="-122"/>
                <a:cs typeface="Calibri" pitchFamily="34" charset="-120"/>
              </a:rPr>
              <a:t>Credentialing = community + revenue (paid mentor walks). The supervised model is also our liability answer.</a:t>
            </a:r>
            <a:endParaRPr lang="en-US" sz="1500" dirty="0"/>
          </a:p>
        </p:txBody>
      </p:sp>
      <p:sp>
        <p:nvSpPr>
          <p:cNvPr id="13" name="Shape 11"/>
          <p:cNvSpPr/>
          <p:nvPr/>
        </p:nvSpPr>
        <p:spPr>
          <a:xfrm>
            <a:off x="640080" y="4617720"/>
            <a:ext cx="10908792" cy="105156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4" name="Shape 12"/>
          <p:cNvSpPr/>
          <p:nvPr/>
        </p:nvSpPr>
        <p:spPr>
          <a:xfrm>
            <a:off x="640080" y="4617720"/>
            <a:ext cx="146304" cy="1051560"/>
          </a:xfrm>
          <a:prstGeom prst="rect">
            <a:avLst/>
          </a:prstGeom>
          <a:solidFill>
            <a:srgbClr val="D8943A"/>
          </a:solidFill>
          <a:ln/>
        </p:spPr>
      </p:sp>
      <p:sp>
        <p:nvSpPr>
          <p:cNvPr id="15" name="Text 13"/>
          <p:cNvSpPr/>
          <p:nvPr/>
        </p:nvSpPr>
        <p:spPr>
          <a:xfrm>
            <a:off x="1051560" y="4617720"/>
            <a:ext cx="2468880" cy="1051560"/>
          </a:xfrm>
          <a:prstGeom prst="rect">
            <a:avLst/>
          </a:prstGeom>
          <a:noFill/>
          <a:ln/>
        </p:spPr>
        <p:txBody>
          <a:bodyPr wrap="square" lIns="0" tIns="0" rIns="0" bIns="0" rtlCol="0" anchor="ctr"/>
          <a:lstStyle/>
          <a:p>
            <a:pPr indent="0" marL="0">
              <a:buNone/>
            </a:pPr>
            <a:r>
              <a:rPr lang="en-US" sz="1800" b="1" dirty="0">
                <a:solidFill>
                  <a:srgbClr val="D8943A"/>
                </a:solidFill>
                <a:latin typeface="Georgia" pitchFamily="34" charset="0"/>
                <a:ea typeface="Georgia" pitchFamily="34" charset="-122"/>
                <a:cs typeface="Georgia" pitchFamily="34" charset="-120"/>
              </a:rPr>
              <a:t>Shelter</a:t>
            </a:r>
            <a:endParaRPr lang="en-US" sz="1800" dirty="0"/>
          </a:p>
        </p:txBody>
      </p:sp>
      <p:sp>
        <p:nvSpPr>
          <p:cNvPr id="16" name="Text 14"/>
          <p:cNvSpPr/>
          <p:nvPr/>
        </p:nvSpPr>
        <p:spPr>
          <a:xfrm>
            <a:off x="3657600" y="4617720"/>
            <a:ext cx="7616952" cy="1051560"/>
          </a:xfrm>
          <a:prstGeom prst="rect">
            <a:avLst/>
          </a:prstGeom>
          <a:noFill/>
          <a:ln/>
        </p:spPr>
        <p:txBody>
          <a:bodyPr wrap="square" lIns="0" tIns="0" rIns="0" bIns="0" rtlCol="0" anchor="ctr"/>
          <a:lstStyle/>
          <a:p>
            <a:pPr indent="0" marL="0">
              <a:buNone/>
            </a:pPr>
            <a:r>
              <a:rPr lang="en-US" sz="1500" dirty="0">
                <a:solidFill>
                  <a:srgbClr val="1E3A2B"/>
                </a:solidFill>
                <a:latin typeface="Calibri" pitchFamily="34" charset="0"/>
                <a:ea typeface="Calibri" pitchFamily="34" charset="-122"/>
                <a:cs typeface="Calibri" pitchFamily="34" charset="-120"/>
              </a:rPr>
              <a:t>The advocacy loop + the give-back. This is the heart, the PR, and the reason a shelter says yes.</a:t>
            </a:r>
            <a:endParaRPr lang="en-US" sz="1500" dirty="0"/>
          </a:p>
        </p:txBody>
      </p:sp>
      <p:sp>
        <p:nvSpPr>
          <p:cNvPr id="17" name="Text 15"/>
          <p:cNvSpPr/>
          <p:nvPr/>
        </p:nvSpPr>
        <p:spPr>
          <a:xfrm>
            <a:off x="640080" y="5943600"/>
            <a:ext cx="10908792" cy="365760"/>
          </a:xfrm>
          <a:prstGeom prst="rect">
            <a:avLst/>
          </a:prstGeom>
          <a:noFill/>
          <a:ln/>
        </p:spPr>
        <p:txBody>
          <a:bodyPr wrap="square" lIns="0" tIns="0" rIns="0" bIns="0" rtlCol="0" anchor="ctr"/>
          <a:lstStyle/>
          <a:p>
            <a:pPr indent="0" marL="0">
              <a:buNone/>
            </a:pPr>
            <a:r>
              <a:rPr lang="en-US" sz="1400" i="1" dirty="0">
                <a:solidFill>
                  <a:srgbClr val="1E3A2B"/>
                </a:solidFill>
                <a:latin typeface="Calibri" pitchFamily="34" charset="0"/>
                <a:ea typeface="Calibri" pitchFamily="34" charset="-122"/>
                <a:cs typeface="Calibri" pitchFamily="34" charset="-120"/>
              </a:rPr>
              <a:t>Same world, sharper story. Nothing here adds scope — it gives each path a reason to exist.</a:t>
            </a:r>
            <a:endParaRPr lang="en-US" sz="1400" dirty="0"/>
          </a:p>
        </p:txBody>
      </p:sp>
      <p:sp>
        <p:nvSpPr>
          <p:cNvPr id="18" name="Text 16"/>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9"/>
        </a:solidFill>
      </p:bgPr>
    </p:bg>
    <p:spTree>
      <p:nvGrpSpPr>
        <p:cNvPr id="1" name=""/>
        <p:cNvGrpSpPr/>
        <p:nvPr/>
      </p:nvGrpSpPr>
      <p:grpSpPr>
        <a:xfrm>
          <a:off x="0" y="0"/>
          <a:ext cx="0" cy="0"/>
          <a:chOff x="0" y="0"/>
          <a:chExt cx="0" cy="0"/>
        </a:xfrm>
      </p:grpSpPr>
      <p:sp>
        <p:nvSpPr>
          <p:cNvPr id="2" name="Shape 0"/>
          <p:cNvSpPr/>
          <p:nvPr/>
        </p:nvSpPr>
        <p:spPr>
          <a:xfrm>
            <a:off x="640080" y="566928"/>
            <a:ext cx="201168" cy="201168"/>
          </a:xfrm>
          <a:prstGeom prst="ellipse">
            <a:avLst/>
          </a:prstGeom>
          <a:solidFill>
            <a:srgbClr val="5E8C63"/>
          </a:solidFill>
          <a:ln/>
        </p:spPr>
      </p:sp>
      <p:sp>
        <p:nvSpPr>
          <p:cNvPr id="3" name="Text 1"/>
          <p:cNvSpPr/>
          <p:nvPr/>
        </p:nvSpPr>
        <p:spPr>
          <a:xfrm>
            <a:off x="969264" y="502920"/>
            <a:ext cx="10058400" cy="320040"/>
          </a:xfrm>
          <a:prstGeom prst="rect">
            <a:avLst/>
          </a:prstGeom>
          <a:noFill/>
          <a:ln/>
        </p:spPr>
        <p:txBody>
          <a:bodyPr wrap="square" lIns="0" tIns="0" rIns="0" bIns="0" rtlCol="0" anchor="ctr"/>
          <a:lstStyle/>
          <a:p>
            <a:pPr indent="0" marL="0">
              <a:buNone/>
            </a:pPr>
            <a:r>
              <a:rPr lang="en-US" sz="1200" b="1" spc="300" kern="0" dirty="0">
                <a:solidFill>
                  <a:srgbClr val="5E8C63"/>
                </a:solidFill>
                <a:latin typeface="Calibri" pitchFamily="34" charset="0"/>
                <a:ea typeface="Calibri" pitchFamily="34" charset="-122"/>
                <a:cs typeface="Calibri" pitchFamily="34" charset="-120"/>
              </a:rPr>
              <a:t>THE ARC</a:t>
            </a:r>
            <a:endParaRPr lang="en-US" sz="1200" dirty="0"/>
          </a:p>
        </p:txBody>
      </p:sp>
      <p:sp>
        <p:nvSpPr>
          <p:cNvPr id="4" name="Text 2"/>
          <p:cNvSpPr/>
          <p:nvPr/>
        </p:nvSpPr>
        <p:spPr>
          <a:xfrm>
            <a:off x="640080" y="868680"/>
            <a:ext cx="10908792" cy="868680"/>
          </a:xfrm>
          <a:prstGeom prst="rect">
            <a:avLst/>
          </a:prstGeom>
          <a:noFill/>
          <a:ln/>
        </p:spPr>
        <p:txBody>
          <a:bodyPr wrap="square" lIns="0" tIns="0" rIns="0" bIns="0" rtlCol="0" anchor="t"/>
          <a:lstStyle/>
          <a:p>
            <a:pPr indent="0" marL="0">
              <a:buNone/>
            </a:pPr>
            <a:r>
              <a:rPr lang="en-US" sz="3300" b="1" dirty="0">
                <a:solidFill>
                  <a:srgbClr val="1E3A2B"/>
                </a:solidFill>
                <a:latin typeface="Georgia" pitchFamily="34" charset="0"/>
                <a:ea typeface="Georgia" pitchFamily="34" charset="-122"/>
                <a:cs typeface="Georgia" pitchFamily="34" charset="-120"/>
              </a:rPr>
              <a:t>Build → validate → decide.</a:t>
            </a:r>
            <a:endParaRPr lang="en-US" sz="3300" dirty="0"/>
          </a:p>
        </p:txBody>
      </p:sp>
      <p:sp>
        <p:nvSpPr>
          <p:cNvPr id="5" name="Shape 3"/>
          <p:cNvSpPr/>
          <p:nvPr/>
        </p:nvSpPr>
        <p:spPr>
          <a:xfrm>
            <a:off x="640080" y="228600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6" name="Shape 4"/>
          <p:cNvSpPr/>
          <p:nvPr/>
        </p:nvSpPr>
        <p:spPr>
          <a:xfrm>
            <a:off x="932688" y="2542032"/>
            <a:ext cx="640080" cy="640080"/>
          </a:xfrm>
          <a:prstGeom prst="ellipse">
            <a:avLst/>
          </a:prstGeom>
          <a:solidFill>
            <a:srgbClr val="5E8C63"/>
          </a:solidFill>
          <a:ln/>
        </p:spPr>
      </p:sp>
      <p:sp>
        <p:nvSpPr>
          <p:cNvPr id="7" name="Text 5"/>
          <p:cNvSpPr/>
          <p:nvPr/>
        </p:nvSpPr>
        <p:spPr>
          <a:xfrm>
            <a:off x="932688" y="254203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8" name="Text 6"/>
          <p:cNvSpPr/>
          <p:nvPr/>
        </p:nvSpPr>
        <p:spPr>
          <a:xfrm>
            <a:off x="932688" y="3337560"/>
            <a:ext cx="2776728" cy="731520"/>
          </a:xfrm>
          <a:prstGeom prst="rect">
            <a:avLst/>
          </a:prstGeom>
          <a:noFill/>
          <a:ln/>
        </p:spPr>
        <p:txBody>
          <a:bodyPr wrap="square" lIns="0" tIns="0" rIns="0" bIns="0" rtlCol="0" anchor="t"/>
          <a:lstStyle/>
          <a:p>
            <a:pPr indent="0" marL="0">
              <a:buNone/>
            </a:pPr>
            <a:r>
              <a:rPr lang="en-US" sz="1800" b="1" dirty="0">
                <a:solidFill>
                  <a:srgbClr val="1E3A2B"/>
                </a:solidFill>
                <a:latin typeface="Georgia" pitchFamily="34" charset="0"/>
                <a:ea typeface="Georgia" pitchFamily="34" charset="-122"/>
                <a:cs typeface="Georgia" pitchFamily="34" charset="-120"/>
              </a:rPr>
              <a:t>Finish the three paths</a:t>
            </a:r>
            <a:endParaRPr lang="en-US" sz="1800" dirty="0"/>
          </a:p>
        </p:txBody>
      </p:sp>
      <p:sp>
        <p:nvSpPr>
          <p:cNvPr id="9" name="Text 7"/>
          <p:cNvSpPr/>
          <p:nvPr/>
        </p:nvSpPr>
        <p:spPr>
          <a:xfrm>
            <a:off x="932688" y="4023360"/>
            <a:ext cx="2776728" cy="91440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Sharpen each arc around what it proves. Scope cleanup to surfaces the paths touch — speed to feedback.</a:t>
            </a:r>
            <a:endParaRPr lang="en-US" sz="1350" dirty="0"/>
          </a:p>
        </p:txBody>
      </p:sp>
      <p:sp>
        <p:nvSpPr>
          <p:cNvPr id="10" name="Text 8"/>
          <p:cNvSpPr/>
          <p:nvPr/>
        </p:nvSpPr>
        <p:spPr>
          <a:xfrm>
            <a:off x="4020312" y="3200400"/>
            <a:ext cx="365760" cy="548640"/>
          </a:xfrm>
          <a:prstGeom prst="rect">
            <a:avLst/>
          </a:prstGeom>
          <a:noFill/>
          <a:ln/>
        </p:spPr>
        <p:txBody>
          <a:bodyPr wrap="square" lIns="0" tIns="0" rIns="0" bIns="0" rtlCol="0" anchor="ctr"/>
          <a:lstStyle/>
          <a:p>
            <a:pPr algn="ctr" indent="0" marL="0">
              <a:buNone/>
            </a:pPr>
            <a:r>
              <a:rPr lang="en-US" sz="2600" b="1" dirty="0">
                <a:solidFill>
                  <a:srgbClr val="9CBF9E"/>
                </a:solidFill>
              </a:rPr>
              <a:t>→</a:t>
            </a:r>
            <a:endParaRPr lang="en-US" sz="2600" dirty="0"/>
          </a:p>
        </p:txBody>
      </p:sp>
      <p:sp>
        <p:nvSpPr>
          <p:cNvPr id="11" name="Shape 9"/>
          <p:cNvSpPr/>
          <p:nvPr/>
        </p:nvSpPr>
        <p:spPr>
          <a:xfrm>
            <a:off x="4413504" y="228600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2" name="Shape 10"/>
          <p:cNvSpPr/>
          <p:nvPr/>
        </p:nvSpPr>
        <p:spPr>
          <a:xfrm>
            <a:off x="4706112" y="2542032"/>
            <a:ext cx="640080" cy="640080"/>
          </a:xfrm>
          <a:prstGeom prst="ellipse">
            <a:avLst/>
          </a:prstGeom>
          <a:solidFill>
            <a:srgbClr val="2C7DA0"/>
          </a:solidFill>
          <a:ln/>
        </p:spPr>
      </p:sp>
      <p:sp>
        <p:nvSpPr>
          <p:cNvPr id="13" name="Text 11"/>
          <p:cNvSpPr/>
          <p:nvPr/>
        </p:nvSpPr>
        <p:spPr>
          <a:xfrm>
            <a:off x="4706112" y="254203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4" name="Text 12"/>
          <p:cNvSpPr/>
          <p:nvPr/>
        </p:nvSpPr>
        <p:spPr>
          <a:xfrm>
            <a:off x="4706112" y="3337560"/>
            <a:ext cx="2776728" cy="731520"/>
          </a:xfrm>
          <a:prstGeom prst="rect">
            <a:avLst/>
          </a:prstGeom>
          <a:noFill/>
          <a:ln/>
        </p:spPr>
        <p:txBody>
          <a:bodyPr wrap="square" lIns="0" tIns="0" rIns="0" bIns="0" rtlCol="0" anchor="t"/>
          <a:lstStyle/>
          <a:p>
            <a:pPr indent="0" marL="0">
              <a:buNone/>
            </a:pPr>
            <a:r>
              <a:rPr lang="en-US" sz="1800" b="1" dirty="0">
                <a:solidFill>
                  <a:srgbClr val="1E3A2B"/>
                </a:solidFill>
                <a:latin typeface="Georgia" pitchFamily="34" charset="0"/>
                <a:ea typeface="Georgia" pitchFamily="34" charset="-122"/>
                <a:cs typeface="Georgia" pitchFamily="34" charset="-120"/>
              </a:rPr>
              <a:t>Validate with users</a:t>
            </a:r>
            <a:endParaRPr lang="en-US" sz="1800" dirty="0"/>
          </a:p>
        </p:txBody>
      </p:sp>
      <p:sp>
        <p:nvSpPr>
          <p:cNvPr id="15" name="Text 13"/>
          <p:cNvSpPr/>
          <p:nvPr/>
        </p:nvSpPr>
        <p:spPr>
          <a:xfrm>
            <a:off x="4706112" y="4023360"/>
            <a:ext cx="2776728" cy="91440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Structured interviews per path, incl. a real shelter conversation to test the binding-constraint question.</a:t>
            </a:r>
            <a:endParaRPr lang="en-US" sz="1350" dirty="0"/>
          </a:p>
        </p:txBody>
      </p:sp>
      <p:sp>
        <p:nvSpPr>
          <p:cNvPr id="16" name="Text 14"/>
          <p:cNvSpPr/>
          <p:nvPr/>
        </p:nvSpPr>
        <p:spPr>
          <a:xfrm>
            <a:off x="7793736" y="3200400"/>
            <a:ext cx="365760" cy="548640"/>
          </a:xfrm>
          <a:prstGeom prst="rect">
            <a:avLst/>
          </a:prstGeom>
          <a:noFill/>
          <a:ln/>
        </p:spPr>
        <p:txBody>
          <a:bodyPr wrap="square" lIns="0" tIns="0" rIns="0" bIns="0" rtlCol="0" anchor="ctr"/>
          <a:lstStyle/>
          <a:p>
            <a:pPr algn="ctr" indent="0" marL="0">
              <a:buNone/>
            </a:pPr>
            <a:r>
              <a:rPr lang="en-US" sz="2600" b="1" dirty="0">
                <a:solidFill>
                  <a:srgbClr val="9CBF9E"/>
                </a:solidFill>
              </a:rPr>
              <a:t>→</a:t>
            </a:r>
            <a:endParaRPr lang="en-US" sz="2600" dirty="0"/>
          </a:p>
        </p:txBody>
      </p:sp>
      <p:sp>
        <p:nvSpPr>
          <p:cNvPr id="17" name="Shape 15"/>
          <p:cNvSpPr/>
          <p:nvPr/>
        </p:nvSpPr>
        <p:spPr>
          <a:xfrm>
            <a:off x="8186928" y="2286000"/>
            <a:ext cx="3361944" cy="2743200"/>
          </a:xfrm>
          <a:prstGeom prst="rect">
            <a:avLst/>
          </a:prstGeom>
          <a:solidFill>
            <a:srgbClr val="FFFFFF"/>
          </a:solidFill>
          <a:ln/>
          <a:effectLst>
            <a:outerShdw sx="100000" sy="100000" kx="0" ky="0" algn="bl" rotWithShape="0" blurRad="114300" dist="38100" dir="8100000">
              <a:srgbClr val="000000">
                <a:alpha val="13000"/>
              </a:srgbClr>
            </a:outerShdw>
          </a:effectLst>
        </p:spPr>
      </p:sp>
      <p:sp>
        <p:nvSpPr>
          <p:cNvPr id="18" name="Shape 16"/>
          <p:cNvSpPr/>
          <p:nvPr/>
        </p:nvSpPr>
        <p:spPr>
          <a:xfrm>
            <a:off x="8479536" y="2542032"/>
            <a:ext cx="640080" cy="640080"/>
          </a:xfrm>
          <a:prstGeom prst="ellipse">
            <a:avLst/>
          </a:prstGeom>
          <a:solidFill>
            <a:srgbClr val="D8943A"/>
          </a:solidFill>
          <a:ln/>
        </p:spPr>
      </p:sp>
      <p:sp>
        <p:nvSpPr>
          <p:cNvPr id="19" name="Text 17"/>
          <p:cNvSpPr/>
          <p:nvPr/>
        </p:nvSpPr>
        <p:spPr>
          <a:xfrm>
            <a:off x="8479536" y="254203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20" name="Text 18"/>
          <p:cNvSpPr/>
          <p:nvPr/>
        </p:nvSpPr>
        <p:spPr>
          <a:xfrm>
            <a:off x="8479536" y="3337560"/>
            <a:ext cx="2776728" cy="731520"/>
          </a:xfrm>
          <a:prstGeom prst="rect">
            <a:avLst/>
          </a:prstGeom>
          <a:noFill/>
          <a:ln/>
        </p:spPr>
        <p:txBody>
          <a:bodyPr wrap="square" lIns="0" tIns="0" rIns="0" bIns="0" rtlCol="0" anchor="t"/>
          <a:lstStyle/>
          <a:p>
            <a:pPr indent="0" marL="0">
              <a:buNone/>
            </a:pPr>
            <a:r>
              <a:rPr lang="en-US" sz="1800" b="1" dirty="0">
                <a:solidFill>
                  <a:srgbClr val="1E3A2B"/>
                </a:solidFill>
                <a:latin typeface="Georgia" pitchFamily="34" charset="0"/>
                <a:ea typeface="Georgia" pitchFamily="34" charset="-122"/>
                <a:cs typeface="Georgia" pitchFamily="34" charset="-120"/>
              </a:rPr>
              <a:t>Decide &amp; plan the build</a:t>
            </a:r>
            <a:endParaRPr lang="en-US" sz="1800" dirty="0"/>
          </a:p>
        </p:txBody>
      </p:sp>
      <p:sp>
        <p:nvSpPr>
          <p:cNvPr id="21" name="Text 19"/>
          <p:cNvSpPr/>
          <p:nvPr/>
        </p:nvSpPr>
        <p:spPr>
          <a:xfrm>
            <a:off x="8479536" y="4023360"/>
            <a:ext cx="2776728" cy="914400"/>
          </a:xfrm>
          <a:prstGeom prst="rect">
            <a:avLst/>
          </a:prstGeom>
          <a:noFill/>
          <a:ln/>
        </p:spPr>
        <p:txBody>
          <a:bodyPr wrap="square" lIns="0" tIns="0" rIns="0" bIns="0" rtlCol="0" anchor="t"/>
          <a:lstStyle/>
          <a:p>
            <a:pPr indent="0" marL="0">
              <a:buNone/>
            </a:pPr>
            <a:r>
              <a:rPr lang="en-US" sz="1350" dirty="0">
                <a:solidFill>
                  <a:srgbClr val="61715F"/>
                </a:solidFill>
                <a:latin typeface="Calibri" pitchFamily="34" charset="0"/>
                <a:ea typeface="Calibri" pitchFamily="34" charset="-122"/>
                <a:cs typeface="Calibri" pitchFamily="34" charset="-120"/>
              </a:rPr>
              <a:t>Synthesise feedback → a real roadmap to a buildable product. This is the part that’s “not yet planned.”</a:t>
            </a:r>
            <a:endParaRPr lang="en-US" sz="1350" dirty="0"/>
          </a:p>
        </p:txBody>
      </p:sp>
      <p:sp>
        <p:nvSpPr>
          <p:cNvPr id="22" name="Text 20"/>
          <p:cNvSpPr/>
          <p:nvPr/>
        </p:nvSpPr>
        <p:spPr>
          <a:xfrm>
            <a:off x="640080" y="5303520"/>
            <a:ext cx="10908792" cy="457200"/>
          </a:xfrm>
          <a:prstGeom prst="rect">
            <a:avLst/>
          </a:prstGeom>
          <a:noFill/>
          <a:ln/>
        </p:spPr>
        <p:txBody>
          <a:bodyPr wrap="square" lIns="0" tIns="0" rIns="0" bIns="0" rtlCol="0" anchor="ctr"/>
          <a:lstStyle/>
          <a:p>
            <a:pPr indent="0" marL="0">
              <a:buNone/>
            </a:pPr>
            <a:r>
              <a:rPr lang="en-US" sz="1400" i="1" dirty="0">
                <a:solidFill>
                  <a:srgbClr val="1E3A2B"/>
                </a:solidFill>
                <a:latin typeface="Calibri" pitchFamily="34" charset="0"/>
                <a:ea typeface="Calibri" pitchFamily="34" charset="-122"/>
                <a:cs typeface="Calibri" pitchFamily="34" charset="-120"/>
              </a:rPr>
              <a:t>Bias to speed: the demos exist to earn feedback, and feedback is what tells us whether — and how — to build for real.</a:t>
            </a:r>
            <a:endParaRPr lang="en-US" sz="1400" dirty="0"/>
          </a:p>
        </p:txBody>
      </p:sp>
      <p:sp>
        <p:nvSpPr>
          <p:cNvPr id="23" name="Text 21"/>
          <p:cNvSpPr/>
          <p:nvPr/>
        </p:nvSpPr>
        <p:spPr>
          <a:xfrm>
            <a:off x="11183112" y="6400800"/>
            <a:ext cx="365760" cy="274320"/>
          </a:xfrm>
          <a:prstGeom prst="rect">
            <a:avLst/>
          </a:prstGeom>
          <a:noFill/>
          <a:ln/>
        </p:spPr>
        <p:txBody>
          <a:bodyPr wrap="square" rtlCol="0" anchor="ctr"/>
          <a:lstStyle/>
          <a:p>
            <a:pPr algn="r" indent="0" marL="0">
              <a:buNone/>
            </a:pPr>
            <a:r>
              <a:rPr lang="en-US" sz="1000" dirty="0">
                <a:solidFill>
                  <a:srgbClr val="61715F"/>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402F"/>
        </a:solidFill>
      </p:bgPr>
    </p:bg>
    <p:spTree>
      <p:nvGrpSpPr>
        <p:cNvPr id="1" name=""/>
        <p:cNvGrpSpPr/>
        <p:nvPr/>
      </p:nvGrpSpPr>
      <p:grpSpPr>
        <a:xfrm>
          <a:off x="0" y="0"/>
          <a:ext cx="0" cy="0"/>
          <a:chOff x="0" y="0"/>
          <a:chExt cx="0" cy="0"/>
        </a:xfrm>
      </p:grpSpPr>
      <p:sp>
        <p:nvSpPr>
          <p:cNvPr id="2" name="Shape 0"/>
          <p:cNvSpPr/>
          <p:nvPr/>
        </p:nvSpPr>
        <p:spPr>
          <a:xfrm>
            <a:off x="10241280" y="4206240"/>
            <a:ext cx="3657600" cy="3657600"/>
          </a:xfrm>
          <a:prstGeom prst="ellipse">
            <a:avLst/>
          </a:prstGeom>
          <a:solidFill>
            <a:srgbClr val="D8943A">
              <a:alpha val="16000"/>
            </a:srgbClr>
          </a:solidFill>
          <a:ln/>
        </p:spPr>
      </p:sp>
      <p:sp>
        <p:nvSpPr>
          <p:cNvPr id="3" name="Text 1"/>
          <p:cNvSpPr/>
          <p:nvPr/>
        </p:nvSpPr>
        <p:spPr>
          <a:xfrm>
            <a:off x="640080" y="868680"/>
            <a:ext cx="10972800" cy="365760"/>
          </a:xfrm>
          <a:prstGeom prst="rect">
            <a:avLst/>
          </a:prstGeom>
          <a:noFill/>
          <a:ln/>
        </p:spPr>
        <p:txBody>
          <a:bodyPr wrap="square" lIns="0" tIns="0" rIns="0" bIns="0" rtlCol="0" anchor="ctr"/>
          <a:lstStyle/>
          <a:p>
            <a:pPr indent="0" marL="0">
              <a:buNone/>
            </a:pPr>
            <a:r>
              <a:rPr lang="en-US" sz="1300" b="1" spc="250" kern="0" dirty="0">
                <a:solidFill>
                  <a:srgbClr val="D8943A"/>
                </a:solidFill>
                <a:latin typeface="Calibri" pitchFamily="34" charset="0"/>
                <a:ea typeface="Calibri" pitchFamily="34" charset="-122"/>
                <a:cs typeface="Calibri" pitchFamily="34" charset="-120"/>
              </a:rPr>
              <a:t>WHAT COMES AFTER  ·  LET’S DECIDE TOGETHER</a:t>
            </a:r>
            <a:endParaRPr lang="en-US" sz="1300" dirty="0"/>
          </a:p>
        </p:txBody>
      </p:sp>
      <p:sp>
        <p:nvSpPr>
          <p:cNvPr id="4" name="Text 2"/>
          <p:cNvSpPr/>
          <p:nvPr/>
        </p:nvSpPr>
        <p:spPr>
          <a:xfrm>
            <a:off x="640080" y="1371600"/>
            <a:ext cx="10789920" cy="914400"/>
          </a:xfrm>
          <a:prstGeom prst="rect">
            <a:avLst/>
          </a:prstGeom>
          <a:noFill/>
          <a:ln/>
        </p:spPr>
        <p:txBody>
          <a:bodyPr wrap="square" lIns="0" tIns="0" rIns="0" bIns="0"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If the demos validate, here’s what we’d decide — together.</a:t>
            </a:r>
            <a:endParaRPr lang="en-US" sz="3100" dirty="0"/>
          </a:p>
        </p:txBody>
      </p:sp>
      <p:sp>
        <p:nvSpPr>
          <p:cNvPr id="5" name="Shape 3"/>
          <p:cNvSpPr/>
          <p:nvPr/>
        </p:nvSpPr>
        <p:spPr>
          <a:xfrm>
            <a:off x="640080" y="2743200"/>
            <a:ext cx="256032" cy="256032"/>
          </a:xfrm>
          <a:prstGeom prst="ellipse">
            <a:avLst/>
          </a:prstGeom>
          <a:solidFill>
            <a:srgbClr val="D8943A"/>
          </a:solidFill>
          <a:ln/>
        </p:spPr>
      </p:sp>
      <p:sp>
        <p:nvSpPr>
          <p:cNvPr id="6" name="Text 4"/>
          <p:cNvSpPr/>
          <p:nvPr/>
        </p:nvSpPr>
        <p:spPr>
          <a:xfrm>
            <a:off x="1097280" y="2651760"/>
            <a:ext cx="3840480" cy="457200"/>
          </a:xfrm>
          <a:prstGeom prst="rect">
            <a:avLst/>
          </a:prstGeom>
          <a:noFill/>
          <a:ln/>
        </p:spPr>
        <p:txBody>
          <a:bodyPr wrap="square" lIns="0" tIns="0" rIns="0" bIns="0" rtlCol="0" anchor="t"/>
          <a:lstStyle/>
          <a:p>
            <a:pPr indent="0" marL="0">
              <a:buNone/>
            </a:pPr>
            <a:r>
              <a:rPr lang="en-US" sz="1700" b="1" dirty="0">
                <a:solidFill>
                  <a:srgbClr val="FFFFFF"/>
                </a:solidFill>
                <a:latin typeface="Georgia" pitchFamily="34" charset="0"/>
                <a:ea typeface="Georgia" pitchFamily="34" charset="-122"/>
                <a:cs typeface="Georgia" pitchFamily="34" charset="-120"/>
              </a:rPr>
              <a:t>Build it for real?</a:t>
            </a:r>
            <a:endParaRPr lang="en-US" sz="1700" dirty="0"/>
          </a:p>
        </p:txBody>
      </p:sp>
      <p:sp>
        <p:nvSpPr>
          <p:cNvPr id="7" name="Text 5"/>
          <p:cNvSpPr/>
          <p:nvPr/>
        </p:nvSpPr>
        <p:spPr>
          <a:xfrm>
            <a:off x="5120640" y="2651760"/>
            <a:ext cx="6428232" cy="914400"/>
          </a:xfrm>
          <a:prstGeom prst="rect">
            <a:avLst/>
          </a:prstGeom>
          <a:noFill/>
          <a:ln/>
        </p:spPr>
        <p:txBody>
          <a:bodyPr wrap="square" lIns="0" tIns="0" rIns="0" bIns="0" rtlCol="0" anchor="t"/>
          <a:lstStyle/>
          <a:p>
            <a:pPr indent="0" marL="0">
              <a:lnSpc>
                <a:spcPct val="105000"/>
              </a:lnSpc>
              <a:buNone/>
            </a:pPr>
            <a:r>
              <a:rPr lang="en-US" sz="1400" dirty="0">
                <a:solidFill>
                  <a:srgbClr val="CFE0CA"/>
                </a:solidFill>
                <a:latin typeface="Calibri" pitchFamily="34" charset="0"/>
                <a:ea typeface="Calibri" pitchFamily="34" charset="-122"/>
                <a:cs typeface="Calibri" pitchFamily="34" charset="-120"/>
              </a:rPr>
              <a:t>Demo → a working app: real backend, auth, data. Our roadmap marks everything past the demo as “not yet planned” — this is that line.</a:t>
            </a:r>
            <a:endParaRPr lang="en-US" sz="1400" dirty="0"/>
          </a:p>
        </p:txBody>
      </p:sp>
      <p:sp>
        <p:nvSpPr>
          <p:cNvPr id="8" name="Shape 6"/>
          <p:cNvSpPr/>
          <p:nvPr/>
        </p:nvSpPr>
        <p:spPr>
          <a:xfrm>
            <a:off x="640080" y="3840480"/>
            <a:ext cx="256032" cy="256032"/>
          </a:xfrm>
          <a:prstGeom prst="ellipse">
            <a:avLst/>
          </a:prstGeom>
          <a:solidFill>
            <a:srgbClr val="D8943A"/>
          </a:solidFill>
          <a:ln/>
        </p:spPr>
      </p:sp>
      <p:sp>
        <p:nvSpPr>
          <p:cNvPr id="9" name="Text 7"/>
          <p:cNvSpPr/>
          <p:nvPr/>
        </p:nvSpPr>
        <p:spPr>
          <a:xfrm>
            <a:off x="1097280" y="3749040"/>
            <a:ext cx="3840480" cy="457200"/>
          </a:xfrm>
          <a:prstGeom prst="rect">
            <a:avLst/>
          </a:prstGeom>
          <a:noFill/>
          <a:ln/>
        </p:spPr>
        <p:txBody>
          <a:bodyPr wrap="square" lIns="0" tIns="0" rIns="0" bIns="0" rtlCol="0" anchor="t"/>
          <a:lstStyle/>
          <a:p>
            <a:pPr indent="0" marL="0">
              <a:buNone/>
            </a:pPr>
            <a:r>
              <a:rPr lang="en-US" sz="1700" b="1" dirty="0">
                <a:solidFill>
                  <a:srgbClr val="FFFFFF"/>
                </a:solidFill>
                <a:latin typeface="Georgia" pitchFamily="34" charset="0"/>
                <a:ea typeface="Georgia" pitchFamily="34" charset="-122"/>
                <a:cs typeface="Georgia" pitchFamily="34" charset="-120"/>
              </a:rPr>
              <a:t>Who builds it?</a:t>
            </a:r>
            <a:endParaRPr lang="en-US" sz="1700" dirty="0"/>
          </a:p>
        </p:txBody>
      </p:sp>
      <p:sp>
        <p:nvSpPr>
          <p:cNvPr id="10" name="Text 8"/>
          <p:cNvSpPr/>
          <p:nvPr/>
        </p:nvSpPr>
        <p:spPr>
          <a:xfrm>
            <a:off x="5120640" y="3749040"/>
            <a:ext cx="6428232" cy="914400"/>
          </a:xfrm>
          <a:prstGeom prst="rect">
            <a:avLst/>
          </a:prstGeom>
          <a:noFill/>
          <a:ln/>
        </p:spPr>
        <p:txBody>
          <a:bodyPr wrap="square" lIns="0" tIns="0" rIns="0" bIns="0" rtlCol="0" anchor="t"/>
          <a:lstStyle/>
          <a:p>
            <a:pPr indent="0" marL="0">
              <a:lnSpc>
                <a:spcPct val="105000"/>
              </a:lnSpc>
              <a:buNone/>
            </a:pPr>
            <a:r>
              <a:rPr lang="en-US" sz="1400" dirty="0">
                <a:solidFill>
                  <a:srgbClr val="CFE0CA"/>
                </a:solidFill>
                <a:latin typeface="Calibri" pitchFamily="34" charset="0"/>
                <a:ea typeface="Calibri" pitchFamily="34" charset="-122"/>
                <a:cs typeface="Calibri" pitchFamily="34" charset="-120"/>
              </a:rPr>
              <a:t>Option to take it a long way ourselves with AI-assisted building, then bring in your engineer friend to harden the security/data layer before real users.</a:t>
            </a:r>
            <a:endParaRPr lang="en-US" sz="1400" dirty="0"/>
          </a:p>
        </p:txBody>
      </p:sp>
      <p:sp>
        <p:nvSpPr>
          <p:cNvPr id="11" name="Shape 9"/>
          <p:cNvSpPr/>
          <p:nvPr/>
        </p:nvSpPr>
        <p:spPr>
          <a:xfrm>
            <a:off x="640080" y="4937760"/>
            <a:ext cx="256032" cy="256032"/>
          </a:xfrm>
          <a:prstGeom prst="ellipse">
            <a:avLst/>
          </a:prstGeom>
          <a:solidFill>
            <a:srgbClr val="D8943A"/>
          </a:solidFill>
          <a:ln/>
        </p:spPr>
      </p:sp>
      <p:sp>
        <p:nvSpPr>
          <p:cNvPr id="12" name="Text 10"/>
          <p:cNvSpPr/>
          <p:nvPr/>
        </p:nvSpPr>
        <p:spPr>
          <a:xfrm>
            <a:off x="1097280" y="4846320"/>
            <a:ext cx="3840480" cy="457200"/>
          </a:xfrm>
          <a:prstGeom prst="rect">
            <a:avLst/>
          </a:prstGeom>
          <a:noFill/>
          <a:ln/>
        </p:spPr>
        <p:txBody>
          <a:bodyPr wrap="square" lIns="0" tIns="0" rIns="0" bIns="0" rtlCol="0" anchor="t"/>
          <a:lstStyle/>
          <a:p>
            <a:pPr indent="0" marL="0">
              <a:buNone/>
            </a:pPr>
            <a:r>
              <a:rPr lang="en-US" sz="1700" b="1" dirty="0">
                <a:solidFill>
                  <a:srgbClr val="FFFFFF"/>
                </a:solidFill>
                <a:latin typeface="Georgia" pitchFamily="34" charset="0"/>
                <a:ea typeface="Georgia" pitchFamily="34" charset="-122"/>
                <a:cs typeface="Georgia" pitchFamily="34" charset="-120"/>
              </a:rPr>
              <a:t>What shape?</a:t>
            </a:r>
            <a:endParaRPr lang="en-US" sz="1700" dirty="0"/>
          </a:p>
        </p:txBody>
      </p:sp>
      <p:sp>
        <p:nvSpPr>
          <p:cNvPr id="13" name="Text 11"/>
          <p:cNvSpPr/>
          <p:nvPr/>
        </p:nvSpPr>
        <p:spPr>
          <a:xfrm>
            <a:off x="5120640" y="4846320"/>
            <a:ext cx="6428232" cy="914400"/>
          </a:xfrm>
          <a:prstGeom prst="rect">
            <a:avLst/>
          </a:prstGeom>
          <a:noFill/>
          <a:ln/>
        </p:spPr>
        <p:txBody>
          <a:bodyPr wrap="square" lIns="0" tIns="0" rIns="0" bIns="0" rtlCol="0" anchor="t"/>
          <a:lstStyle/>
          <a:p>
            <a:pPr indent="0" marL="0">
              <a:lnSpc>
                <a:spcPct val="105000"/>
              </a:lnSpc>
              <a:buNone/>
            </a:pPr>
            <a:r>
              <a:rPr lang="en-US" sz="1400" dirty="0">
                <a:solidFill>
                  <a:srgbClr val="CFE0CA"/>
                </a:solidFill>
                <a:latin typeface="Calibri" pitchFamily="34" charset="0"/>
                <a:ea typeface="Calibri" pitchFamily="34" charset="-122"/>
                <a:cs typeface="Calibri" pitchFamily="34" charset="-120"/>
              </a:rPr>
              <a:t>The give-back direction, the shelter partnership, and how we want to structure all of it.</a:t>
            </a:r>
            <a:endParaRPr lang="en-US" sz="1400" dirty="0"/>
          </a:p>
        </p:txBody>
      </p:sp>
      <p:sp>
        <p:nvSpPr>
          <p:cNvPr id="14" name="Text 12"/>
          <p:cNvSpPr/>
          <p:nvPr/>
        </p:nvSpPr>
        <p:spPr>
          <a:xfrm>
            <a:off x="640080" y="6126480"/>
            <a:ext cx="10972800" cy="365760"/>
          </a:xfrm>
          <a:prstGeom prst="rect">
            <a:avLst/>
          </a:prstGeom>
          <a:noFill/>
          <a:ln/>
        </p:spPr>
        <p:txBody>
          <a:bodyPr wrap="square" lIns="0" tIns="0" rIns="0" bIns="0" rtlCol="0" anchor="ctr"/>
          <a:lstStyle/>
          <a:p>
            <a:pPr indent="0" marL="0">
              <a:buNone/>
            </a:pPr>
            <a:r>
              <a:rPr lang="en-US" sz="1300" i="1" dirty="0">
                <a:solidFill>
                  <a:srgbClr val="D8943A"/>
                </a:solidFill>
                <a:latin typeface="Calibri" pitchFamily="34" charset="0"/>
                <a:ea typeface="Calibri" pitchFamily="34" charset="-122"/>
                <a:cs typeface="Calibri" pitchFamily="34" charset="-120"/>
              </a:rPr>
              <a:t>No commitment today — just naming the decisions so we walk toward them on purpose.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402F"/>
        </a:solidFill>
      </p:bgPr>
    </p:bg>
    <p:spTree>
      <p:nvGrpSpPr>
        <p:cNvPr id="1" name=""/>
        <p:cNvGrpSpPr/>
        <p:nvPr/>
      </p:nvGrpSpPr>
      <p:grpSpPr>
        <a:xfrm>
          <a:off x="0" y="0"/>
          <a:ext cx="0" cy="0"/>
          <a:chOff x="0" y="0"/>
          <a:chExt cx="0" cy="0"/>
        </a:xfrm>
      </p:grpSpPr>
      <p:sp>
        <p:nvSpPr>
          <p:cNvPr id="2" name="Shape 0"/>
          <p:cNvSpPr/>
          <p:nvPr/>
        </p:nvSpPr>
        <p:spPr>
          <a:xfrm>
            <a:off x="-1280160" y="-1280160"/>
            <a:ext cx="3840480" cy="3840480"/>
          </a:xfrm>
          <a:prstGeom prst="ellipse">
            <a:avLst/>
          </a:prstGeom>
          <a:solidFill>
            <a:srgbClr val="5E8C63">
              <a:alpha val="20000"/>
            </a:srgbClr>
          </a:solidFill>
          <a:ln/>
        </p:spPr>
      </p:sp>
      <p:sp>
        <p:nvSpPr>
          <p:cNvPr id="3" name="Shape 1"/>
          <p:cNvSpPr/>
          <p:nvPr/>
        </p:nvSpPr>
        <p:spPr>
          <a:xfrm>
            <a:off x="640080" y="5394960"/>
            <a:ext cx="411480" cy="411480"/>
          </a:xfrm>
          <a:prstGeom prst="ellipse">
            <a:avLst/>
          </a:prstGeom>
          <a:solidFill>
            <a:srgbClr val="D8943A"/>
          </a:solidFill>
          <a:ln/>
        </p:spPr>
      </p:sp>
      <p:sp>
        <p:nvSpPr>
          <p:cNvPr id="4" name="Text 2"/>
          <p:cNvSpPr/>
          <p:nvPr/>
        </p:nvSpPr>
        <p:spPr>
          <a:xfrm>
            <a:off x="640080" y="1828800"/>
            <a:ext cx="10972800" cy="365760"/>
          </a:xfrm>
          <a:prstGeom prst="rect">
            <a:avLst/>
          </a:prstGeom>
          <a:noFill/>
          <a:ln/>
        </p:spPr>
        <p:txBody>
          <a:bodyPr wrap="square" lIns="0" tIns="0" rIns="0" bIns="0" rtlCol="0" anchor="ctr"/>
          <a:lstStyle/>
          <a:p>
            <a:pPr indent="0" marL="0">
              <a:buNone/>
            </a:pPr>
            <a:r>
              <a:rPr lang="en-US" sz="1300" b="1" spc="250" kern="0" dirty="0">
                <a:solidFill>
                  <a:srgbClr val="D8943A"/>
                </a:solidFill>
                <a:latin typeface="Calibri" pitchFamily="34" charset="0"/>
                <a:ea typeface="Calibri" pitchFamily="34" charset="-122"/>
                <a:cs typeface="Calibri" pitchFamily="34" charset="-120"/>
              </a:rPr>
              <a:t>THE QUESTION I’D LOVE YOUR TAKE ON</a:t>
            </a:r>
            <a:endParaRPr lang="en-US" sz="1300" dirty="0"/>
          </a:p>
        </p:txBody>
      </p:sp>
      <p:sp>
        <p:nvSpPr>
          <p:cNvPr id="5" name="Text 3"/>
          <p:cNvSpPr/>
          <p:nvPr/>
        </p:nvSpPr>
        <p:spPr>
          <a:xfrm>
            <a:off x="640080" y="2377440"/>
            <a:ext cx="10972800" cy="1828800"/>
          </a:xfrm>
          <a:prstGeom prst="rect">
            <a:avLst/>
          </a:prstGeom>
          <a:noFill/>
          <a:ln/>
        </p:spPr>
        <p:txBody>
          <a:bodyPr wrap="square" lIns="0" tIns="0" rIns="0" bIns="0" rtlCol="0" anchor="ctr"/>
          <a:lstStyle/>
          <a:p>
            <a:pPr indent="0" marL="0">
              <a:lnSpc>
                <a:spcPct val="105000"/>
              </a:lnSpc>
              <a:buNone/>
            </a:pPr>
            <a:r>
              <a:rPr lang="en-US" sz="3300" b="1" dirty="0">
                <a:solidFill>
                  <a:srgbClr val="FFFFFF"/>
                </a:solidFill>
                <a:latin typeface="Georgia" pitchFamily="34" charset="0"/>
                <a:ea typeface="Georgia" pitchFamily="34" charset="-122"/>
                <a:cs typeface="Georgia" pitchFamily="34" charset="-120"/>
              </a:rPr>
              <a:t>“If the three demos land, are we ready to</a:t>
            </a:r>
            <a:endParaRPr lang="en-US" sz="3300" dirty="0"/>
          </a:p>
          <a:p>
            <a:pPr indent="0" marL="0">
              <a:lnSpc>
                <a:spcPct val="105000"/>
              </a:lnSpc>
              <a:buNone/>
            </a:pPr>
            <a:r>
              <a:rPr lang="en-US" sz="3300" b="1" dirty="0">
                <a:solidFill>
                  <a:srgbClr val="FFFFFF"/>
                </a:solidFill>
                <a:latin typeface="Georgia" pitchFamily="34" charset="0"/>
                <a:ea typeface="Georgia" pitchFamily="34" charset="-122"/>
                <a:cs typeface="Georgia" pitchFamily="34" charset="-120"/>
              </a:rPr>
              <a:t>build the real thing — and how do we want to?”</a:t>
            </a:r>
            <a:endParaRPr lang="en-US" sz="3300" dirty="0"/>
          </a:p>
        </p:txBody>
      </p:sp>
      <p:sp>
        <p:nvSpPr>
          <p:cNvPr id="6" name="Text 4"/>
          <p:cNvSpPr/>
          <p:nvPr/>
        </p:nvSpPr>
        <p:spPr>
          <a:xfrm>
            <a:off x="640080" y="4480560"/>
            <a:ext cx="10515600" cy="731520"/>
          </a:xfrm>
          <a:prstGeom prst="rect">
            <a:avLst/>
          </a:prstGeom>
          <a:noFill/>
          <a:ln/>
        </p:spPr>
        <p:txBody>
          <a:bodyPr wrap="square" lIns="0" tIns="0" rIns="0" bIns="0" rtlCol="0" anchor="ctr"/>
          <a:lstStyle/>
          <a:p>
            <a:pPr indent="0" marL="0">
              <a:buNone/>
            </a:pPr>
            <a:r>
              <a:rPr lang="en-US" sz="1600" dirty="0">
                <a:solidFill>
                  <a:srgbClr val="CFE0CA"/>
                </a:solidFill>
                <a:latin typeface="Calibri" pitchFamily="34" charset="0"/>
                <a:ea typeface="Calibri" pitchFamily="34" charset="-122"/>
                <a:cs typeface="Calibri" pitchFamily="34" charset="-120"/>
              </a:rPr>
              <a:t>I'm in, and excited. I'd rather move this forward with you than wait. Let's pick the next step together.</a:t>
            </a:r>
            <a:endParaRPr lang="en-US" sz="1600" dirty="0"/>
          </a:p>
        </p:txBody>
      </p:sp>
      <p:sp>
        <p:nvSpPr>
          <p:cNvPr id="7" name="Text 5"/>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5E8C63"/>
                </a:solidFill>
                <a:latin typeface="Calibri" pitchFamily="34" charset="0"/>
                <a:ea typeface="Calibri" pitchFamily="34" charset="-122"/>
                <a:cs typeface="Calibri" pitchFamily="34" charset="-120"/>
              </a:rPr>
              <a:t>Doggo  ·  June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Doggo — Positioning, Proof &amp; the Path Forward</dc:title>
  <dc:subject>PptxGenJS Presentation</dc:subject>
  <dc:creator>Shawn Derek</dc:creator>
  <cp:lastModifiedBy>Shawn Derek</cp:lastModifiedBy>
  <cp:revision>1</cp:revision>
  <dcterms:created xsi:type="dcterms:W3CDTF">2026-06-21T12:13:20Z</dcterms:created>
  <dcterms:modified xsi:type="dcterms:W3CDTF">2026-06-21T12:13:20Z</dcterms:modified>
</cp:coreProperties>
</file>